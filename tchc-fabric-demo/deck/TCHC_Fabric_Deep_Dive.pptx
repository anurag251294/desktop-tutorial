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2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FC4BE"/>
                </a:solidFill>
                <a:latin typeface="Consolas"/>
              </a:rPr>
              <a:t>MICROSOFT FABRIC  ·  DEEP DIVE AND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06040"/>
            <a:ext cx="10332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0">
                <a:solidFill>
                  <a:srgbClr val="FFFFFF"/>
                </a:solidFill>
                <a:latin typeface="Georgia"/>
              </a:rPr>
              <a:t>Toronto Community Housing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03320"/>
            <a:ext cx="8686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B4C1C2"/>
                </a:solidFill>
                <a:latin typeface="Georgia"/>
              </a:rPr>
              <a:t>Arrears and vacancy, end to end — from source extract to the decision a caseworker actually makes.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2064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49697"/>
                </a:solidFill>
                <a:latin typeface="Consolas"/>
              </a:rPr>
              <a:t>Thursday 27 August 2026   ·   2 hours   ·   Demonstration-led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F6F6B"/>
                </a:solidFill>
                <a:latin typeface="Consolas"/>
              </a:rPr>
              <a:t>ITEM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1F3243"/>
                </a:solidFill>
                <a:latin typeface="Georgia"/>
              </a:rPr>
              <a:t>What we want you to leave with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91640"/>
            <a:ext cx="1097280" cy="38100"/>
          </a:xfrm>
          <a:prstGeom prst="rect">
            <a:avLst/>
          </a:prstGeom>
          <a:solidFill>
            <a:srgbClr val="2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057400"/>
            <a:ext cx="5029200" cy="3291840"/>
          </a:xfrm>
          <a:prstGeom prst="rect">
            <a:avLst/>
          </a:prstGeom>
          <a:solidFill>
            <a:srgbClr val="F5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37744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F6F6B"/>
                </a:solidFill>
                <a:latin typeface="Consolas"/>
              </a:rPr>
              <a:t>A WORKING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88920"/>
            <a:ext cx="448056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300"/>
              </a:spcAft>
            </a:pPr>
            <a:r>
              <a:rPr sz="1500" b="0">
                <a:solidFill>
                  <a:srgbClr val="1F3243"/>
                </a:solidFill>
                <a:latin typeface="Segoe UI"/>
              </a:rPr>
              <a:t>• Fabric shown, not described</a:t>
            </a:r>
          </a:p>
          <a:p>
            <a:pPr algn="l">
              <a:spcAft>
                <a:spcPts val="1300"/>
              </a:spcAft>
            </a:pPr>
            <a:r>
              <a:rPr sz="1500" b="0">
                <a:solidFill>
                  <a:srgbClr val="1F3243"/>
                </a:solidFill>
                <a:latin typeface="Segoe UI"/>
              </a:rPr>
              <a:t>• Anchored to arrears and vacancy, not a generic retail demo</a:t>
            </a:r>
          </a:p>
          <a:p>
            <a:pPr algn="l">
              <a:spcAft>
                <a:spcPts val="1300"/>
              </a:spcAft>
            </a:pPr>
            <a:r>
              <a:rPr sz="1500" b="0">
                <a:solidFill>
                  <a:srgbClr val="1F3243"/>
                </a:solidFill>
                <a:latin typeface="Segoe UI"/>
              </a:rPr>
              <a:t>• Every number on screen traceable to a row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2057400"/>
            <a:ext cx="5029200" cy="3291840"/>
          </a:xfrm>
          <a:prstGeom prst="rect">
            <a:avLst/>
          </a:prstGeom>
          <a:solidFill>
            <a:srgbClr val="F5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37744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08A2E"/>
                </a:solidFill>
                <a:latin typeface="Consolas"/>
              </a:rPr>
              <a:t>A CONFIRMED 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788920"/>
            <a:ext cx="448056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300"/>
              </a:spcAft>
            </a:pPr>
            <a:r>
              <a:rPr sz="1500" b="0">
                <a:solidFill>
                  <a:srgbClr val="1F3243"/>
                </a:solidFill>
                <a:latin typeface="Segoe UI"/>
              </a:rPr>
              <a:t>• What has to be in place before kickoff</a:t>
            </a:r>
          </a:p>
          <a:p>
            <a:pPr algn="l">
              <a:spcAft>
                <a:spcPts val="1300"/>
              </a:spcAft>
            </a:pPr>
            <a:r>
              <a:rPr sz="1500" b="0">
                <a:solidFill>
                  <a:srgbClr val="1F3243"/>
                </a:solidFill>
                <a:latin typeface="Segoe UI"/>
              </a:rPr>
              <a:t>• An owner and a date against each item</a:t>
            </a:r>
          </a:p>
          <a:p>
            <a:pPr algn="l">
              <a:spcAft>
                <a:spcPts val="1300"/>
              </a:spcAft>
            </a:pPr>
            <a:r>
              <a:rPr sz="1500" b="0">
                <a:solidFill>
                  <a:srgbClr val="1F3243"/>
                </a:solidFill>
                <a:latin typeface="Segoe UI"/>
              </a:rPr>
              <a:t>• The kickoff date itself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235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Georgia"/>
              </a:rPr>
              <a:t>The technical and security questions should surface today, not in the first sprint.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F6F6B"/>
                </a:solidFill>
                <a:latin typeface="Consolas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1F3243"/>
                </a:solidFill>
                <a:latin typeface="Georgia"/>
              </a:rPr>
              <a:t>Two hours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91640"/>
            <a:ext cx="1097280" cy="38100"/>
          </a:xfrm>
          <a:prstGeom prst="rect">
            <a:avLst/>
          </a:prstGeom>
          <a:solidFill>
            <a:srgbClr val="2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031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4748B"/>
                </a:solidFill>
                <a:latin typeface="Consolas"/>
              </a:rPr>
              <a:t>1–2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2103120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3243"/>
                </a:solidFill>
                <a:latin typeface="Segoe UI"/>
              </a:rPr>
              <a:t>Objectives and where the engagement stands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2103120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onsolas"/>
              </a:rPr>
              <a:t>15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78608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4748B"/>
                </a:solidFill>
                <a:latin typeface="Consola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578608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3243"/>
                </a:solidFill>
                <a:latin typeface="Segoe UI"/>
              </a:rPr>
              <a:t>Fabric orientation — the platform in one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2578608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onsolas"/>
              </a:rPr>
              <a:t>10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54096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F6F6B"/>
                </a:solidFill>
                <a:latin typeface="Consola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054096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3243"/>
                </a:solidFill>
                <a:latin typeface="Segoe UI"/>
              </a:rPr>
              <a:t>Demo: landing TCHC data in OneLake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3054096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onsolas"/>
              </a:rPr>
              <a:t>20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529584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F6F6B"/>
                </a:solidFill>
                <a:latin typeface="Consolas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529584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3243"/>
                </a:solidFill>
                <a:latin typeface="Segoe UI"/>
              </a:rPr>
              <a:t>Demo: medallion architecture in practice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3529584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onsolas"/>
              </a:rPr>
              <a:t>20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00507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F6F6B"/>
                </a:solidFill>
                <a:latin typeface="Consolas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005072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3243"/>
                </a:solidFill>
                <a:latin typeface="Segoe UI"/>
              </a:rPr>
              <a:t>Demo: from curated data to a decision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4005072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onsolas"/>
              </a:rPr>
              <a:t>20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48056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4748B"/>
                </a:solidFill>
                <a:latin typeface="Consolas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4480560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3243"/>
                </a:solidFill>
                <a:latin typeface="Segoe UI"/>
              </a:rPr>
              <a:t>Security, privacy and data protection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4480560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onsolas"/>
              </a:rPr>
              <a:t>15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956048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4748B"/>
                </a:solidFill>
                <a:latin typeface="Consolas"/>
              </a:rPr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4956048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3243"/>
                </a:solidFill>
                <a:latin typeface="Segoe UI"/>
              </a:rPr>
              <a:t>Governance, capacity and operations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4956048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onsolas"/>
              </a:rPr>
              <a:t>10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431536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08A2E"/>
                </a:solidFill>
                <a:latin typeface="Consolas"/>
              </a:rPr>
              <a:t>9–10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5431536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3243"/>
                </a:solidFill>
                <a:latin typeface="Segoe UI"/>
              </a:rPr>
              <a:t>Open questions, and the pre-kickoff checklist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5431536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onsolas"/>
              </a:rPr>
              <a:t>10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608076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Georgia"/>
              </a:rPr>
              <a:t>Sixty of the hundred and twenty minutes are live demo. Questions are welcome throughout.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F6F6B"/>
                </a:solidFill>
                <a:latin typeface="Consolas"/>
              </a:rPr>
              <a:t>ITEM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1F3243"/>
                </a:solidFill>
                <a:latin typeface="Georgia"/>
              </a:rPr>
              <a:t>The platform in one picture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91640"/>
            <a:ext cx="1097280" cy="38100"/>
          </a:xfrm>
          <a:prstGeom prst="rect">
            <a:avLst/>
          </a:prstGeom>
          <a:solidFill>
            <a:srgbClr val="2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148840"/>
            <a:ext cx="2048256" cy="2286000"/>
          </a:xfrm>
          <a:prstGeom prst="rect">
            <a:avLst/>
          </a:prstGeom>
          <a:solidFill>
            <a:srgbClr val="F5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2048256" cy="50800"/>
          </a:xfrm>
          <a:prstGeom prst="rect">
            <a:avLst/>
          </a:prstGeom>
          <a:solidFill>
            <a:srgbClr val="2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1737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F6F6B"/>
                </a:solidFill>
                <a:latin typeface="Segoe UI"/>
              </a:rPr>
              <a:t>OneLake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54680"/>
            <a:ext cx="1737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Segoe UI"/>
              </a:rPr>
              <a:t>One tenant-wide data lake.
One copy. Open Delta
Parquet.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2980944" y="2148840"/>
            <a:ext cx="2048256" cy="2286000"/>
          </a:xfrm>
          <a:prstGeom prst="rect">
            <a:avLst/>
          </a:prstGeom>
          <a:solidFill>
            <a:srgbClr val="F5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80944" y="2148840"/>
            <a:ext cx="2048256" cy="50800"/>
          </a:xfrm>
          <a:prstGeom prst="rect">
            <a:avLst/>
          </a:prstGeom>
          <a:solidFill>
            <a:srgbClr val="1F32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63824" y="2377440"/>
            <a:ext cx="1737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3243"/>
                </a:solidFill>
                <a:latin typeface="Segoe UI"/>
              </a:rPr>
              <a:t>Lakehouse
Warehouse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3824" y="3154680"/>
            <a:ext cx="1737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Segoe UI"/>
              </a:rPr>
              <a:t>Where the data lives
and is shaped. Spark or
T-SQL, same storage.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38927" y="2148840"/>
            <a:ext cx="2048256" cy="2286000"/>
          </a:xfrm>
          <a:prstGeom prst="rect">
            <a:avLst/>
          </a:prstGeom>
          <a:solidFill>
            <a:srgbClr val="F5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38927" y="2148840"/>
            <a:ext cx="2048256" cy="50800"/>
          </a:xfrm>
          <a:prstGeom prst="rect">
            <a:avLst/>
          </a:prstGeom>
          <a:solidFill>
            <a:srgbClr val="1F32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21807" y="2377440"/>
            <a:ext cx="1737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3243"/>
                </a:solidFill>
                <a:latin typeface="Segoe UI"/>
              </a:rPr>
              <a:t>Data Factory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21807" y="3154680"/>
            <a:ext cx="1737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Segoe UI"/>
              </a:rPr>
              <a:t>Pipelines and dataflows
that bring the data in
and orchestrate 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96911" y="2148840"/>
            <a:ext cx="2048256" cy="2286000"/>
          </a:xfrm>
          <a:prstGeom prst="rect">
            <a:avLst/>
          </a:prstGeom>
          <a:solidFill>
            <a:srgbClr val="F5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96911" y="2148840"/>
            <a:ext cx="2048256" cy="50800"/>
          </a:xfrm>
          <a:prstGeom prst="rect">
            <a:avLst/>
          </a:prstGeom>
          <a:solidFill>
            <a:srgbClr val="2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9791" y="2377440"/>
            <a:ext cx="1737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F6F6B"/>
                </a:solidFill>
                <a:latin typeface="Segoe UI"/>
              </a:rPr>
              <a:t>Semantic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9791" y="3154680"/>
            <a:ext cx="1737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Segoe UI"/>
              </a:rPr>
              <a:t>The shared definition of
a measure. Direct Lake,
no second copy.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54895" y="2148840"/>
            <a:ext cx="2048256" cy="2286000"/>
          </a:xfrm>
          <a:prstGeom prst="rect">
            <a:avLst/>
          </a:prstGeom>
          <a:solidFill>
            <a:srgbClr val="F5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54895" y="2148840"/>
            <a:ext cx="2048256" cy="50800"/>
          </a:xfrm>
          <a:prstGeom prst="rect">
            <a:avLst/>
          </a:prstGeom>
          <a:solidFill>
            <a:srgbClr val="1F32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37775" y="2377440"/>
            <a:ext cx="1737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3243"/>
                </a:solidFill>
                <a:latin typeface="Segoe UI"/>
              </a:rPr>
              <a:t>Power BI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37775" y="3154680"/>
            <a:ext cx="1737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Segoe UI"/>
              </a:rPr>
              <a:t>Where a decision
actually gets made.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800600"/>
            <a:ext cx="10515600" cy="1143000"/>
          </a:xfrm>
          <a:prstGeom prst="rect">
            <a:avLst/>
          </a:prstGeom>
          <a:solidFill>
            <a:srgbClr val="EC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502920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243"/>
                </a:solidFill>
                <a:latin typeface="Segoe UI"/>
              </a:rPr>
              <a:t>What this engagement uses: </a:t>
            </a:r>
          </a:p>
          <a:p>
            <a:pPr algn="l"/>
            <a:r>
              <a:rPr sz="1500" b="0">
                <a:solidFill>
                  <a:srgbClr val="64748B"/>
                </a:solidFill>
                <a:latin typeface="Segoe UI"/>
              </a:rPr>
              <a:t>all five. What it does not touch today — Real-Time Intelligence, Copilot and data agents, and migration of the existing Power BI estate.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2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7FC4BE"/>
                </a:solidFill>
                <a:latin typeface="Consolas"/>
              </a:rPr>
              <a:t>DEMO 1  ·  ITEM 4  ·  20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0">
                <a:solidFill>
                  <a:srgbClr val="FFFFFF"/>
                </a:solidFill>
                <a:latin typeface="Georgia"/>
              </a:rPr>
              <a:t>Landing TCHC data in OneLake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77639"/>
            <a:ext cx="9601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B4C1C2"/>
                </a:solidFill>
                <a:latin typeface="Georgia"/>
              </a:rPr>
              <a:t>Shortcut, mirroring, pipeline, dataflow, gateway — which one fits which TCHC source system, and what each costs you.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F6F6B"/>
                </a:solidFill>
                <a:latin typeface="Consolas"/>
              </a:rPr>
              <a:t>ITEM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1F3243"/>
                </a:solidFill>
                <a:latin typeface="Georgia"/>
              </a:rPr>
              <a:t>Five ways in, and what each is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91640"/>
            <a:ext cx="1097280" cy="38100"/>
          </a:xfrm>
          <a:prstGeom prst="rect">
            <a:avLst/>
          </a:prstGeom>
          <a:solidFill>
            <a:srgbClr val="2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031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Consolas"/>
              </a:rPr>
              <a:t>OPTION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210312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Consolas"/>
              </a:rPr>
              <a:t>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210312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Consolas"/>
              </a:rPr>
              <a:t>SHOWN 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3243"/>
                </a:solidFill>
                <a:latin typeface="Segoe UI"/>
              </a:rPr>
              <a:t>Shortcut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5146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Segoe UI"/>
              </a:rPr>
              <a:t>Data already in ADLS or another lakehouse. No copy, no latency.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251460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F6F6B"/>
                </a:solidFill>
                <a:latin typeface="Consolas"/>
              </a:rPr>
              <a:t>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17296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3243"/>
                </a:solidFill>
                <a:latin typeface="Segoe UI"/>
              </a:rPr>
              <a:t>Mirroring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317296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Segoe UI"/>
              </a:rPr>
              <a:t>A supported source database, replicated continuously.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3172968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8A2E"/>
                </a:solidFill>
                <a:latin typeface="Consolas"/>
              </a:rPr>
              <a:t>No — needs a 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831335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3243"/>
                </a:solidFill>
                <a:latin typeface="Segoe UI"/>
              </a:rPr>
              <a:t>Data Factory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831335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Segoe UI"/>
              </a:rPr>
              <a:t>A system with an API or database, on a schedule.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3831335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F6F6B"/>
                </a:solidFill>
                <a:latin typeface="Consolas"/>
              </a:rPr>
              <a:t>Yes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89703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3243"/>
                </a:solidFill>
                <a:latin typeface="Segoe UI"/>
              </a:rPr>
              <a:t>Dataflow Gen2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4489703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Segoe UI"/>
              </a:rPr>
              <a:t>Low-code shaping, for a Power Query audience.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4489703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Consolas"/>
              </a:rPr>
              <a:t>Discussion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148071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3243"/>
                </a:solidFill>
                <a:latin typeface="Segoe UI"/>
              </a:rPr>
              <a:t>On-prem / VNet gateway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5148071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Segoe UI"/>
              </a:rPr>
              <a:t>Whichever TCHC systems are not internet-reachable.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5148071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8A2E"/>
                </a:solidFill>
                <a:latin typeface="Consolas"/>
              </a:rPr>
              <a:t>No — needs a host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5806440"/>
            <a:ext cx="10424160" cy="777240"/>
          </a:xfrm>
          <a:prstGeom prst="rect">
            <a:avLst/>
          </a:prstGeom>
          <a:solidFill>
            <a:srgbClr val="FA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5989320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3243"/>
                </a:solidFill>
                <a:latin typeface="Georgia"/>
              </a:rPr>
              <a:t>Mirroring and the gateway need something on TCHC's side that does not exist yet. Architecture conversation today, not demo.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2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7FC4BE"/>
                </a:solidFill>
                <a:latin typeface="Consolas"/>
              </a:rPr>
              <a:t>DEMO 2  ·  ITEM 5  ·  20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0">
                <a:solidFill>
                  <a:srgbClr val="FFFFFF"/>
                </a:solidFill>
                <a:latin typeface="Georgia"/>
              </a:rPr>
              <a:t>The medallion, on live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77639"/>
            <a:ext cx="9601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B4C1C2"/>
                </a:solidFill>
                <a:latin typeface="Georgia"/>
              </a:rPr>
              <a:t>Bronze is what arrived, including its problems. Silver is what we are willing to stand behind. Gold is what a decision can rest 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F6F6B"/>
                </a:solidFill>
                <a:latin typeface="Consolas"/>
              </a:rPr>
              <a:t>ITEM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1F3243"/>
                </a:solidFill>
                <a:latin typeface="Georgia"/>
              </a:rPr>
              <a:t>What Silver actually has to fix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91640"/>
            <a:ext cx="1097280" cy="38100"/>
          </a:xfrm>
          <a:prstGeom prst="rect">
            <a:avLst/>
          </a:prstGeom>
          <a:solidFill>
            <a:srgbClr val="2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3243"/>
                </a:solidFill>
                <a:latin typeface="Segoe UI"/>
              </a:rPr>
              <a:t>Two date formats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14884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onsolas"/>
              </a:rPr>
              <a:t>dd/mm from the property system, mm/dd from finance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9748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3243"/>
                </a:solidFill>
                <a:latin typeface="Segoe UI"/>
              </a:rPr>
              <a:t>Money as 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269748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onsolas"/>
              </a:rPr>
              <a:t>"$1,234.56" arrives as a string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4612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3243"/>
                </a:solidFill>
                <a:latin typeface="Segoe UI"/>
              </a:rPr>
              <a:t>Five spellings, two concepts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324612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onsolas"/>
              </a:rPr>
              <a:t>RGI · rgi · Rent-Geared-to-Income · Market ·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79476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3243"/>
                </a:solidFill>
                <a:latin typeface="Segoe UI"/>
              </a:rPr>
              <a:t>A re-sent batch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379476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onsolas"/>
              </a:rPr>
              <a:t>The extract ran twice; receipt_id deduplicates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34340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3243"/>
                </a:solidFill>
                <a:latin typeface="Segoe UI"/>
              </a:rPr>
              <a:t>Receipts for unknown accounts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434340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onsolas"/>
              </a:rPr>
              <a:t>Quarantined, never dropped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89204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3243"/>
                </a:solidFill>
                <a:latin typeface="Segoe UI"/>
              </a:rPr>
              <a:t>Work orders with no unit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489204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onsolas"/>
              </a:rPr>
              <a:t>Quarantined, never dropped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5577840"/>
            <a:ext cx="10424160" cy="960120"/>
          </a:xfrm>
          <a:prstGeom prst="rect">
            <a:avLst/>
          </a:prstGeom>
          <a:solidFill>
            <a:srgbClr val="F7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742432"/>
            <a:ext cx="99669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B3423A"/>
                </a:solidFill>
                <a:latin typeface="Segoe UI"/>
              </a:rPr>
              <a:t>Quarantine, not deletion.  </a:t>
            </a:r>
          </a:p>
          <a:p>
            <a:pPr algn="l"/>
            <a:r>
              <a:rPr sz="1500" b="0">
                <a:solidFill>
                  <a:srgbClr val="1F3243"/>
                </a:solidFill>
                <a:latin typeface="Georgia"/>
              </a:rPr>
              <a:t>Silently dropping an orphan receipt makes arrears read higher than it is, and nobody downstream can tell it happened.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2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7FC4BE"/>
                </a:solidFill>
                <a:latin typeface="Consolas"/>
              </a:rPr>
              <a:t>DEMO 3  ·  ITEM 6  ·  20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0">
                <a:solidFill>
                  <a:srgbClr val="FFFFFF"/>
                </a:solidFill>
                <a:latin typeface="Georgia"/>
              </a:rPr>
              <a:t>From curated data to a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77639"/>
            <a:ext cx="9601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B4C1C2"/>
                </a:solidFill>
                <a:latin typeface="Georgia"/>
              </a:rPr>
              <a:t>The closest view of what the MVP looks like. This is also where the modelling decisions start to matter.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F6F6B"/>
                </a:solidFill>
                <a:latin typeface="Consolas"/>
              </a:rPr>
              <a:t>ITEM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1F3243"/>
                </a:solidFill>
                <a:latin typeface="Georgia"/>
              </a:rPr>
              <a:t>Arrears is a calculation, not a column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91640"/>
            <a:ext cx="1097280" cy="38100"/>
          </a:xfrm>
          <a:prstGeom prst="rect">
            <a:avLst/>
          </a:prstGeom>
          <a:solidFill>
            <a:srgbClr val="2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5120640" cy="2286000"/>
          </a:xfrm>
          <a:prstGeom prst="rect">
            <a:avLst/>
          </a:prstGeom>
          <a:solidFill>
            <a:srgbClr val="F7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3317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3423A"/>
                </a:solidFill>
                <a:latin typeface="Consolas"/>
              </a:rPr>
              <a:t>THE EASY VERSION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697480"/>
            <a:ext cx="45720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3243"/>
                </a:solidFill>
                <a:latin typeface="Segoe UI"/>
              </a:rPr>
              <a:t>This month's charge minus this month's payment.
A household that pays two weeks late every month looks permanently in arrears. One that missed a month last year and never made it up looks fine.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103120"/>
            <a:ext cx="5120640" cy="2286000"/>
          </a:xfrm>
          <a:prstGeom prst="rect">
            <a:avLst/>
          </a:prstGeom>
          <a:solidFill>
            <a:srgbClr val="F1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3317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F6F6B"/>
                </a:solidFill>
                <a:latin typeface="Consolas"/>
              </a:rPr>
              <a:t>WHAT WE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697480"/>
            <a:ext cx="45720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3243"/>
                </a:solidFill>
                <a:latin typeface="Segoe UI"/>
              </a:rPr>
              <a:t>Receipts settle the oldest outstanding charge first, because that is how a rent account actually settles.
The aging bucket follows the oldest charge still carrying a balance.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0916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>
                <a:solidFill>
                  <a:srgbClr val="1F3243"/>
                </a:solidFill>
                <a:latin typeface="Georgia"/>
              </a:rPr>
              <a:t>Both wrong answers reach a caseworker.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64748B"/>
                </a:solidFill>
                <a:latin typeface="Georgia"/>
              </a:rPr>
              <a:t>One sends a collections letter to somebody who is current. The other misses a household that has been sliding for a year.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F6F6B"/>
                </a:solidFill>
                <a:latin typeface="Consolas"/>
              </a:rPr>
              <a:t>ITEM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1F3243"/>
                </a:solidFill>
                <a:latin typeface="Georgia"/>
              </a:rPr>
              <a:t>Direct Lake, Import, DirectQuery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91640"/>
            <a:ext cx="1097280" cy="38100"/>
          </a:xfrm>
          <a:prstGeom prst="rect">
            <a:avLst/>
          </a:prstGeom>
          <a:solidFill>
            <a:srgbClr val="2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148840"/>
            <a:ext cx="3429000" cy="2651760"/>
          </a:xfrm>
          <a:prstGeom prst="rect">
            <a:avLst/>
          </a:prstGeom>
          <a:solidFill>
            <a:srgbClr val="F5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3429000" cy="50800"/>
          </a:xfrm>
          <a:prstGeom prst="rect">
            <a:avLst/>
          </a:prstGeom>
          <a:solidFill>
            <a:srgbClr val="2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377440"/>
            <a:ext cx="2971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F6F6B"/>
                </a:solidFill>
                <a:latin typeface="Georgia"/>
              </a:rPr>
              <a:t>Direct Lake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926080"/>
            <a:ext cx="2971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Segoe UI"/>
              </a:rPr>
              <a:t>Reads the Delta files directly.
No import. No refresh schedule.
No second copy.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31596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F6F6B"/>
                </a:solidFill>
                <a:latin typeface="Consolas"/>
              </a:rPr>
              <a:t>WHAT WE 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16552" y="2148840"/>
            <a:ext cx="3429000" cy="2651760"/>
          </a:xfrm>
          <a:prstGeom prst="rect">
            <a:avLst/>
          </a:prstGeom>
          <a:solidFill>
            <a:srgbClr val="F5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16552" y="2148840"/>
            <a:ext cx="3429000" cy="508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2377440"/>
            <a:ext cx="2971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64748B"/>
                </a:solidFill>
                <a:latin typeface="Georgia"/>
              </a:rPr>
              <a:t>Import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926080"/>
            <a:ext cx="2971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Segoe UI"/>
              </a:rPr>
              <a:t>A copy held in memory.
Fastest queries, but a refresh
schedule and a latency.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10144" y="2148840"/>
            <a:ext cx="3429000" cy="2651760"/>
          </a:xfrm>
          <a:prstGeom prst="rect">
            <a:avLst/>
          </a:prstGeom>
          <a:solidFill>
            <a:srgbClr val="F5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10144" y="2148840"/>
            <a:ext cx="3429000" cy="508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8744" y="2377440"/>
            <a:ext cx="2971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64748B"/>
                </a:solidFill>
                <a:latin typeface="Georgia"/>
              </a:rPr>
              <a:t>DirectQuery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2926080"/>
            <a:ext cx="2971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Segoe UI"/>
              </a:rPr>
              <a:t>Every query goes to the source.
Always current, slowest, and it
puts reporting load on the source.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074920"/>
            <a:ext cx="10515600" cy="1234440"/>
          </a:xfrm>
          <a:prstGeom prst="rect">
            <a:avLst/>
          </a:prstGeom>
          <a:solidFill>
            <a:srgbClr val="EC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5285232"/>
            <a:ext cx="9875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243"/>
                </a:solidFill>
                <a:latin typeface="Georgia"/>
              </a:rPr>
              <a:t>Direct Lake is why the medallion and the semantic layer are not two projects. </a:t>
            </a:r>
          </a:p>
          <a:p>
            <a:pPr algn="l"/>
            <a:r>
              <a:rPr sz="1500" b="0">
                <a:solidFill>
                  <a:srgbClr val="64748B"/>
                </a:solidFill>
                <a:latin typeface="Georgia"/>
              </a:rPr>
              <a:t>When the pipeline writes, the model sees it. The trade is one operational edge: replace a table rather than append to it and the model needs rebinding, not just refreshing.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F6F6B"/>
                </a:solidFill>
                <a:latin typeface="Consolas"/>
              </a:rPr>
              <a:t>ITEM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1F3243"/>
                </a:solidFill>
                <a:latin typeface="Georgia"/>
              </a:rPr>
              <a:t>Security, privacy and data protection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91640"/>
            <a:ext cx="1097280" cy="38100"/>
          </a:xfrm>
          <a:prstGeom prst="rect">
            <a:avLst/>
          </a:prstGeom>
          <a:solidFill>
            <a:srgbClr val="2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0312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F6F6B"/>
                </a:solidFill>
                <a:latin typeface="Consolas"/>
              </a:rPr>
              <a:t>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68880"/>
            <a:ext cx="48463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0">
                <a:solidFill>
                  <a:srgbClr val="1F3243"/>
                </a:solidFill>
                <a:latin typeface="Segoe UI"/>
              </a:rPr>
              <a:t>• Workspace roles — Admin, Member, Contributor, Viewer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1F3243"/>
                </a:solidFill>
                <a:latin typeface="Segoe UI"/>
              </a:rPr>
              <a:t>• OneLake data access roles — folder level, so Gold without Bronze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1F3243"/>
                </a:solidFill>
                <a:latin typeface="Segoe UI"/>
              </a:rPr>
              <a:t>• Row-level security — a caseworker sees their portfolio, a director sees all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1F3243"/>
                </a:solidFill>
                <a:latin typeface="Segoe UI"/>
              </a:rPr>
              <a:t>• Object-level security — hide a column or a table from a role entirely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10312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F6F6B"/>
                </a:solidFill>
                <a:latin typeface="Consolas"/>
              </a:rPr>
              <a:t>PROTECTION AND 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468880"/>
            <a:ext cx="493776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0">
                <a:solidFill>
                  <a:srgbClr val="1F3243"/>
                </a:solidFill>
                <a:latin typeface="Segoe UI"/>
              </a:rPr>
              <a:t>• Sensitivity labels via Purview, travelling with exports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1F3243"/>
                </a:solidFill>
                <a:latin typeface="Segoe UI"/>
              </a:rPr>
              <a:t>• Entra ID groups as the single place access is granted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1F3243"/>
                </a:solidFill>
                <a:latin typeface="Segoe UI"/>
              </a:rPr>
              <a:t>• Private endpoints — a design decision with your network team, early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1F3243"/>
                </a:solidFill>
                <a:latin typeface="Segoe UI"/>
              </a:rPr>
              <a:t>• Tenant data in the dev environment — live, masked, or synthetic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5349240"/>
            <a:ext cx="10424160" cy="1051560"/>
          </a:xfrm>
          <a:prstGeom prst="rect">
            <a:avLst/>
          </a:prstGeom>
          <a:solidFill>
            <a:srgbClr val="FA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5532120"/>
            <a:ext cx="9966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08A2E"/>
                </a:solidFill>
                <a:latin typeface="Georgia"/>
              </a:rPr>
              <a:t>A question back to you: </a:t>
            </a:r>
          </a:p>
          <a:p>
            <a:pPr algn="l"/>
            <a:r>
              <a:rPr sz="1500" b="0">
                <a:solidFill>
                  <a:srgbClr val="1F3243"/>
                </a:solidFill>
                <a:latin typeface="Georgia"/>
              </a:rPr>
              <a:t>does the development environment use live, masked, or synthetic tenant data? Everything you will see today is synthetic. That is the safest default, and it should be a decision rather than an omission.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F6F6B"/>
                </a:solidFill>
                <a:latin typeface="Consolas"/>
              </a:rPr>
              <a:t>ITEM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1F3243"/>
                </a:solidFill>
                <a:latin typeface="Georgia"/>
              </a:rPr>
              <a:t>Governance, capacity and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91640"/>
            <a:ext cx="1097280" cy="38100"/>
          </a:xfrm>
          <a:prstGeom prst="rect">
            <a:avLst/>
          </a:prstGeom>
          <a:solidFill>
            <a:srgbClr val="2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243"/>
                </a:solidFill>
                <a:latin typeface="Segoe UI"/>
              </a:rPr>
              <a:t>Domains and workspaces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103120"/>
            <a:ext cx="7223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Segoe UI"/>
              </a:rPr>
              <a:t>One workspace per environment per domain is the usual starting shape. Decide the naming convention before the first workspace, not the fifth.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27248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243"/>
                </a:solidFill>
                <a:latin typeface="Segoe UI"/>
              </a:rPr>
              <a:t>Purview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3127248"/>
            <a:ext cx="7223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Segoe UI"/>
              </a:rPr>
              <a:t>Lineage across OneLake, so “where did this number come from” has an answer that is not a person.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151376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243"/>
                </a:solidFill>
                <a:latin typeface="Segoe UI"/>
              </a:rPr>
              <a:t>Capacity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4151376"/>
            <a:ext cx="7223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Segoe UI"/>
              </a:rPr>
              <a:t>F-SKUs are a shared pool. Interactive queries and background jobs draw on the same units, and Fabric smooths bursts. The Capacity Metrics app shows what is actually consuming.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175504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243"/>
                </a:solidFill>
                <a:latin typeface="Segoe UI"/>
              </a:rPr>
              <a:t>Git and deployment pipelines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5175504"/>
            <a:ext cx="7223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Segoe UI"/>
              </a:rPr>
              <a:t>This entire demo is in a repository — notebooks, pipeline, model and report. Deployment pipelines promote between workspaces.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5989320"/>
            <a:ext cx="10424160" cy="658368"/>
          </a:xfrm>
          <a:prstGeom prst="rect">
            <a:avLst/>
          </a:prstGeom>
          <a:solidFill>
            <a:srgbClr val="EC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6126480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3243"/>
                </a:solidFill>
                <a:latin typeface="Georgia"/>
              </a:rPr>
              <a:t>We are not quoting an F-SKU today. It depends on volume, refresh pattern and concurrency, and none of those are known yet.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F6F6B"/>
                </a:solidFill>
                <a:latin typeface="Consolas"/>
              </a:rPr>
              <a:t>ITEM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1F3243"/>
                </a:solidFill>
                <a:latin typeface="Georgia"/>
              </a:rPr>
              <a:t>Pre-kickoff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91640"/>
            <a:ext cx="1097280" cy="38100"/>
          </a:xfrm>
          <a:prstGeom prst="rect">
            <a:avLst/>
          </a:prstGeom>
          <a:solidFill>
            <a:srgbClr val="2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1168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Georgia"/>
              </a:rPr>
              <a:t>An owner and a date against each, before we leave the room.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2551176"/>
            <a:ext cx="146304" cy="146304"/>
          </a:xfrm>
          <a:prstGeom prst="rect">
            <a:avLst/>
          </a:prstGeom>
          <a:noFill/>
          <a:ln w="15875">
            <a:solidFill>
              <a:srgbClr val="2F6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478024"/>
            <a:ext cx="7589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3243"/>
                </a:solidFill>
                <a:latin typeface="Segoe UI"/>
              </a:rPr>
              <a:t>TCHC product owner named, with allocation confirmed for the engagement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2478024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6CFCF"/>
                </a:solidFill>
                <a:latin typeface="Consolas"/>
              </a:rPr>
              <a:t>owner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2478024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6CFCF"/>
                </a:solidFill>
                <a:latin typeface="Consolas"/>
              </a:rPr>
              <a:t>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" y="3063240"/>
            <a:ext cx="146304" cy="146304"/>
          </a:xfrm>
          <a:prstGeom prst="rect">
            <a:avLst/>
          </a:prstGeom>
          <a:noFill/>
          <a:ln w="15875">
            <a:solidFill>
              <a:srgbClr val="2F6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2990088"/>
            <a:ext cx="7589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3243"/>
                </a:solidFill>
                <a:latin typeface="Segoe UI"/>
              </a:rPr>
              <a:t>Fabric capacity decision — F-SKU size, reservation, Microsoft-hosted or TCHC tenant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2990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6CFCF"/>
                </a:solidFill>
                <a:latin typeface="Consolas"/>
              </a:rPr>
              <a:t>owner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2990088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6CFCF"/>
                </a:solidFill>
                <a:latin typeface="Consolas"/>
              </a:rPr>
              <a:t>date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" y="3575304"/>
            <a:ext cx="146304" cy="146304"/>
          </a:xfrm>
          <a:prstGeom prst="rect">
            <a:avLst/>
          </a:prstGeom>
          <a:noFill/>
          <a:ln w="15875">
            <a:solidFill>
              <a:srgbClr val="2F6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3502152"/>
            <a:ext cx="7589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3243"/>
                </a:solidFill>
                <a:latin typeface="Segoe UI"/>
              </a:rPr>
              <a:t>Azure subscription, Entra ID groups, administrative access for environment 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3502152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6CFCF"/>
                </a:solidFill>
                <a:latin typeface="Consolas"/>
              </a:rPr>
              <a:t>owner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3502152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6CFCF"/>
                </a:solidFill>
                <a:latin typeface="Consolas"/>
              </a:rPr>
              <a:t>date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087368"/>
            <a:ext cx="146304" cy="146304"/>
          </a:xfrm>
          <a:prstGeom prst="rect">
            <a:avLst/>
          </a:prstGeom>
          <a:noFill/>
          <a:ln w="15875">
            <a:solidFill>
              <a:srgbClr val="2F6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4014215"/>
            <a:ext cx="7589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3243"/>
                </a:solidFill>
                <a:latin typeface="Segoe UI"/>
              </a:rPr>
              <a:t>Source system access for arrears and vacancy, plus a gateway host if required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4014215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6CFCF"/>
                </a:solidFill>
                <a:latin typeface="Consolas"/>
              </a:rPr>
              <a:t>owner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4014215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6CFCF"/>
                </a:solidFill>
                <a:latin typeface="Consolas"/>
              </a:rPr>
              <a:t>date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" y="4599432"/>
            <a:ext cx="146304" cy="146304"/>
          </a:xfrm>
          <a:prstGeom prst="rect">
            <a:avLst/>
          </a:prstGeom>
          <a:noFill/>
          <a:ln w="15875">
            <a:solidFill>
              <a:srgbClr val="2F6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4440" y="4526280"/>
            <a:ext cx="7589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3243"/>
                </a:solidFill>
                <a:latin typeface="Segoe UI"/>
              </a:rPr>
              <a:t>Azure DevOps or GitHub project available to the delivery team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452628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6CFCF"/>
                </a:solidFill>
                <a:latin typeface="Consolas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4526280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6CFCF"/>
                </a:solidFill>
                <a:latin typeface="Consolas"/>
              </a:rPr>
              <a:t>date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6112" y="5111496"/>
            <a:ext cx="146304" cy="146304"/>
          </a:xfrm>
          <a:prstGeom prst="rect">
            <a:avLst/>
          </a:prstGeom>
          <a:noFill/>
          <a:ln w="15875">
            <a:solidFill>
              <a:srgbClr val="2F6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4440" y="5038344"/>
            <a:ext cx="7589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3243"/>
                </a:solidFill>
                <a:latin typeface="Segoe UI"/>
              </a:rPr>
              <a:t>Development environment data — live, masked, or synthetic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5038344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6CFCF"/>
                </a:solidFill>
                <a:latin typeface="Consolas"/>
              </a:rPr>
              <a:t>owner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5038344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6CFCF"/>
                </a:solidFill>
                <a:latin typeface="Consolas"/>
              </a:rPr>
              <a:t>date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6112" y="5623560"/>
            <a:ext cx="146304" cy="146304"/>
          </a:xfrm>
          <a:prstGeom prst="rect">
            <a:avLst/>
          </a:prstGeom>
          <a:noFill/>
          <a:ln w="15875">
            <a:solidFill>
              <a:srgbClr val="2F6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34440" y="5550408"/>
            <a:ext cx="7589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3243"/>
                </a:solidFill>
                <a:latin typeface="Segoe UI"/>
              </a:rPr>
              <a:t>Security and privacy review slot booked inside the first two weeks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555040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6CFCF"/>
                </a:solidFill>
                <a:latin typeface="Consolas"/>
              </a:rPr>
              <a:t>owner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5550408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6CFCF"/>
                </a:solidFill>
                <a:latin typeface="Consolas"/>
              </a:rPr>
              <a:t>date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" y="6263640"/>
            <a:ext cx="10424160" cy="25400"/>
          </a:xfrm>
          <a:prstGeom prst="rect">
            <a:avLst/>
          </a:prstGeom>
          <a:solidFill>
            <a:srgbClr val="2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64008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243"/>
                </a:solidFill>
                <a:latin typeface="Georgia"/>
              </a:rPr>
              <a:t>Kickoff: week of 14 September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2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7FC4BE"/>
                </a:solidFill>
                <a:latin typeface="Consolas"/>
              </a:rPr>
              <a:t>WHAT WE ARE ASKING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0">
                <a:solidFill>
                  <a:srgbClr val="FFFFFF"/>
                </a:solidFill>
                <a:latin typeface="Georgia"/>
              </a:rPr>
              <a:t>The two answers that shape everything else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434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>
                <a:solidFill>
                  <a:srgbClr val="B4C1C2"/>
                </a:solidFill>
                <a:latin typeface="Georgia"/>
              </a:rPr>
              <a:t>Which system is the system of record for arrears balances, and which for unit vacancy — and what integration surface each one offers.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B4C1C2"/>
                </a:solidFill>
                <a:latin typeface="Georgia"/>
              </a:rPr>
              <a:t>How current the data has to be for the decision the business actually makes. Daily, intraday, or near real time.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F6F6B"/>
                </a:solidFill>
                <a:latin typeface="Consolas"/>
              </a:rPr>
              <a:t>APPENDIX  ·  REPORT PAGE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3243"/>
                </a:solidFill>
                <a:latin typeface="Georgia"/>
              </a:rPr>
              <a:t>Arrears overview — portfolio position, trend, aging, concentration</a:t>
            </a:r>
          </a:p>
        </p:txBody>
      </p:sp>
      <p:pic>
        <p:nvPicPr>
          <p:cNvPr id="4" name="Picture 3" descr="fina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10515600" cy="37832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onsolas"/>
              </a:rPr>
              <a:t>Synthetic data. 120 buildings, 10,568 units, 24 months.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F6F6B"/>
                </a:solidFill>
                <a:latin typeface="Consolas"/>
              </a:rPr>
              <a:t>APPENDIX  ·  REPORT PAGE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3243"/>
                </a:solidFill>
                <a:latin typeface="Georgia"/>
              </a:rPr>
              <a:t>Arrears deep dive — where the balance sits, and the caseload table</a:t>
            </a:r>
          </a:p>
        </p:txBody>
      </p:sp>
      <p:pic>
        <p:nvPicPr>
          <p:cNvPr id="4" name="Picture 3" descr="final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10515600" cy="37832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onsolas"/>
              </a:rPr>
              <a:t>Synthetic data. 120 buildings, 10,568 units, 24 months.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F6F6B"/>
                </a:solidFill>
                <a:latin typeface="Consolas"/>
              </a:rPr>
              <a:t>APPENDIX  ·  REPORT PAGE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3243"/>
                </a:solidFill>
                <a:latin typeface="Georgia"/>
              </a:rPr>
              <a:t>Vacancy and turnaround — vacancy, revenue forgone, turnaround days</a:t>
            </a:r>
          </a:p>
        </p:txBody>
      </p:sp>
      <p:pic>
        <p:nvPicPr>
          <p:cNvPr id="4" name="Picture 3" descr="final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10515600" cy="37832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onsolas"/>
              </a:rPr>
              <a:t>Synthetic data. 120 buildings, 10,568 units, 24 months.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