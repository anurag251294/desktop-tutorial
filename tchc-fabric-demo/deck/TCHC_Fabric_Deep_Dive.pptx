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2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FC4BE"/>
                </a:solidFill>
                <a:latin typeface="Consolas"/>
              </a:rPr>
              <a:t>MICROSOFT FABRIC  ·  DEEP DIVE AND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0">
                <a:solidFill>
                  <a:srgbClr val="FFFFFF"/>
                </a:solidFill>
                <a:latin typeface="Georgia"/>
              </a:rPr>
              <a:t>Toronto Community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4C1C2"/>
                </a:solidFill>
                <a:latin typeface="Georgia"/>
              </a:rPr>
              <a:t>Arrears and vacancy, end to end — from source extract to the decision a caseworker actually makes.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49697"/>
                </a:solidFill>
                <a:latin typeface="Consolas"/>
              </a:rPr>
              <a:t>Thursday 27 August 2026   ·   2 hours   ·   Demonstration-led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What we want you to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5029200" cy="329184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3774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 WORKING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88920"/>
            <a:ext cx="44805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3243"/>
                </a:solidFill>
                <a:latin typeface="Segoe UI"/>
              </a:rPr>
              <a:t>• Fabric shown, not described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3243"/>
                </a:solidFill>
                <a:latin typeface="Segoe UI"/>
              </a:rPr>
              <a:t>• Anchored to arrears and vacancy, not a generic retail demo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3243"/>
                </a:solidFill>
                <a:latin typeface="Segoe UI"/>
              </a:rPr>
              <a:t>• Every number on screen traceable to a row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057400"/>
            <a:ext cx="5029200" cy="329184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3774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08A2E"/>
                </a:solidFill>
                <a:latin typeface="Consolas"/>
              </a:rPr>
              <a:t>A CONFIRMED 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4805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3243"/>
                </a:solidFill>
                <a:latin typeface="Segoe UI"/>
              </a:rPr>
              <a:t>• What has to be in place before kickoff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3243"/>
                </a:solidFill>
                <a:latin typeface="Segoe UI"/>
              </a:rPr>
              <a:t>• An owner and a date against each item</a:t>
            </a:r>
          </a:p>
          <a:p>
            <a:pPr algn="l">
              <a:spcAft>
                <a:spcPts val="1300"/>
              </a:spcAft>
            </a:pPr>
            <a:r>
              <a:rPr sz="1500" b="0">
                <a:solidFill>
                  <a:srgbClr val="1F3243"/>
                </a:solidFill>
                <a:latin typeface="Segoe UI"/>
              </a:rPr>
              <a:t>• The kickoff date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Georgia"/>
              </a:rPr>
              <a:t>The technical and security questions should surface today, not in the first sprint.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Two hours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onsolas"/>
              </a:rPr>
              <a:t>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103120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Objectives and where the engagement stands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210312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onsola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78608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Fabric orientation — the platform in one picture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257860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54096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6F6B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054096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Demo: landing TCHC data in OneLake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305409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20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9584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6F6B"/>
                </a:solidFill>
                <a:latin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529584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Demo: medallion architecture in practice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52958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20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00507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F6F6B"/>
                </a:solidFill>
                <a:latin typeface="Consolas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005072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Demo: from curated data to a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0507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20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8056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onsolas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480560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Security, privacy and data protection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48056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56048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956048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Governance, capacity and operations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9560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10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431536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8A2E"/>
                </a:solidFill>
                <a:latin typeface="Consolas"/>
              </a:rPr>
              <a:t>9–10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431536"/>
            <a:ext cx="7680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Segoe UI"/>
              </a:rPr>
              <a:t>Open questions, and the pre-kickoff checklist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54315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onsolas"/>
              </a:rPr>
              <a:t>10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0807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Georgia"/>
              </a:rPr>
              <a:t>Sixty of the hundred and twenty minutes are live demo. Questions are welcome throughout.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The platform in one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048256" cy="22860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2048256" cy="508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6F6B"/>
                </a:solidFill>
                <a:latin typeface="Segoe UI"/>
              </a:rPr>
              <a:t>OneLake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737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One tenant-wide data lake.
One copy. Open Delta
Parquet.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80944" y="2148840"/>
            <a:ext cx="2048256" cy="22860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80944" y="2148840"/>
            <a:ext cx="2048256" cy="50800"/>
          </a:xfrm>
          <a:prstGeom prst="rect">
            <a:avLst/>
          </a:prstGeom>
          <a:solidFill>
            <a:srgbClr val="1F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3824" y="23774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Lakehouse
Warehouse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3154680"/>
            <a:ext cx="1737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Where the data lives
and is shaped. Spark or
T-SQL, same storage.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8927" y="2148840"/>
            <a:ext cx="2048256" cy="22860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38927" y="2148840"/>
            <a:ext cx="2048256" cy="50800"/>
          </a:xfrm>
          <a:prstGeom prst="rect">
            <a:avLst/>
          </a:prstGeom>
          <a:solidFill>
            <a:srgbClr val="1F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1807" y="23774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Data Factory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807" y="3154680"/>
            <a:ext cx="1737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Pipelines and dataflows
that bring the data in
and orchestrate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96911" y="2148840"/>
            <a:ext cx="2048256" cy="22860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96911" y="2148840"/>
            <a:ext cx="2048256" cy="508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9791" y="23774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F6F6B"/>
                </a:solidFill>
                <a:latin typeface="Segoe UI"/>
              </a:rPr>
              <a:t>Semantic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1" y="3154680"/>
            <a:ext cx="1737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The shared definition of
a measure. Direct Lake,
no second copy.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54895" y="2148840"/>
            <a:ext cx="2048256" cy="22860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54895" y="2148840"/>
            <a:ext cx="2048256" cy="50800"/>
          </a:xfrm>
          <a:prstGeom prst="rect">
            <a:avLst/>
          </a:prstGeom>
          <a:solidFill>
            <a:srgbClr val="1F3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7775" y="2377440"/>
            <a:ext cx="1737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Power 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5" y="3154680"/>
            <a:ext cx="1737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Where a decision
actually gets made.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800600"/>
            <a:ext cx="10515600" cy="1143000"/>
          </a:xfrm>
          <a:prstGeom prst="rect">
            <a:avLst/>
          </a:prstGeom>
          <a:solidFill>
            <a:srgbClr val="EC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0292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What this engagement uses: </a:t>
            </a:r>
          </a:p>
          <a:p>
            <a:pPr algn="l"/>
            <a:r>
              <a:rPr sz="1500" b="0">
                <a:solidFill>
                  <a:srgbClr val="64748B"/>
                </a:solidFill>
                <a:latin typeface="Segoe UI"/>
              </a:rPr>
              <a:t>all five. What it does not touch today — Real-Time Intelligence, Copilot and data agents, and migration of the existing Power BI estate.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2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FC4BE"/>
                </a:solidFill>
                <a:latin typeface="Consolas"/>
              </a:rPr>
              <a:t>DEMO 1  ·  ITEM 4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0">
                <a:solidFill>
                  <a:srgbClr val="FFFFFF"/>
                </a:solidFill>
                <a:latin typeface="Georgia"/>
              </a:rPr>
              <a:t>Landing TCHC data in OneLake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C1C2"/>
                </a:solidFill>
                <a:latin typeface="Georgia"/>
              </a:rPr>
              <a:t>Shortcut, mirroring, pipeline, dataflow, gateway — which one fits which TCHC source system, and what each costs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Five ways in, and what each is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onsolas"/>
              </a:rPr>
              <a:t>OPTION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031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onsolas"/>
              </a:rPr>
              <a:t>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210312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onsolas"/>
              </a:rPr>
              <a:t>SHOWN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Shortcut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514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Data already in ADLS or another lakehouse. No copy, no latency.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25146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F6F6B"/>
                </a:solidFill>
                <a:latin typeface="Consolas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7296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Mirroring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17296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A supported source database, replicated continuously.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17296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8A2E"/>
                </a:solidFill>
                <a:latin typeface="Consolas"/>
              </a:rPr>
              <a:t>No — needs a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31335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Data Factory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831335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A system with an API or database, on a schedule.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3831335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F6F6B"/>
                </a:solidFill>
                <a:latin typeface="Consolas"/>
              </a:rP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89703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Dataflow Gen2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489703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Low-code shaping, for a Power Query audience.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48970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onsolas"/>
              </a:rPr>
              <a:t>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48071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On-prem / VNet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148071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Whichever TCHC systems are not internet-reachable.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148071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8A2E"/>
                </a:solidFill>
                <a:latin typeface="Consolas"/>
              </a:rPr>
              <a:t>No — needs a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5806440"/>
            <a:ext cx="10424160" cy="777240"/>
          </a:xfrm>
          <a:prstGeom prst="rect">
            <a:avLst/>
          </a:prstGeom>
          <a:solidFill>
            <a:srgbClr val="FA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989320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Georgia"/>
              </a:rPr>
              <a:t>Mirroring and the gateway need something on TCHC's side that does not exist yet. Architecture conversation today, not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2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FC4BE"/>
                </a:solidFill>
                <a:latin typeface="Consolas"/>
              </a:rPr>
              <a:t>DEMO 2  ·  ITEM 5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0">
                <a:solidFill>
                  <a:srgbClr val="FFFFFF"/>
                </a:solidFill>
                <a:latin typeface="Georgia"/>
              </a:rPr>
              <a:t>The medallion, on live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C1C2"/>
                </a:solidFill>
                <a:latin typeface="Georgia"/>
              </a:rPr>
              <a:t>Bronze is what arrived, including its problems. Silver is what we are willing to stand behind. Gold is what a decision can rest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What Silver actually has to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Two date formats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1488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onsolas"/>
              </a:rPr>
              <a:t>dd/mm from the property system, mm/dd from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Money as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69748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onsolas"/>
              </a:rPr>
              <a:t>"$1,234.56" arrives as a string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Five spellings, two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2461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onsolas"/>
              </a:rPr>
              <a:t>RGI · rgi · Rent-Geared-to-Income · Market ·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947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A re-sent 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7947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onsolas"/>
              </a:rPr>
              <a:t>The extract ran twice; receipt_id deduplicates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Receipts for unknown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43434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onsolas"/>
              </a:rPr>
              <a:t>Quarantined, never dropped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92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243"/>
                </a:solidFill>
                <a:latin typeface="Segoe UI"/>
              </a:rPr>
              <a:t>Work orders with no 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892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onsolas"/>
              </a:rPr>
              <a:t>Quarantined, never dropped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5577840"/>
            <a:ext cx="10424160" cy="960120"/>
          </a:xfrm>
          <a:prstGeom prst="rect">
            <a:avLst/>
          </a:prstGeom>
          <a:solidFill>
            <a:srgbClr val="F7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742432"/>
            <a:ext cx="9966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3423A"/>
                </a:solidFill>
                <a:latin typeface="Segoe UI"/>
              </a:rPr>
              <a:t>Quarantine, not deletion.  </a:t>
            </a:r>
          </a:p>
          <a:p>
            <a:pPr algn="l"/>
            <a:r>
              <a:rPr sz="1500" b="0">
                <a:solidFill>
                  <a:srgbClr val="1F3243"/>
                </a:solidFill>
                <a:latin typeface="Georgia"/>
              </a:rPr>
              <a:t>Silently dropping an orphan receipt makes arrears read higher than it is, and nobody downstream can tell it happened.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2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FC4BE"/>
                </a:solidFill>
                <a:latin typeface="Consolas"/>
              </a:rPr>
              <a:t>DEMO 3  ·  ITEM 6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0">
                <a:solidFill>
                  <a:srgbClr val="FFFFFF"/>
                </a:solidFill>
                <a:latin typeface="Georgia"/>
              </a:rPr>
              <a:t>From curated data to a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C1C2"/>
                </a:solidFill>
                <a:latin typeface="Georgia"/>
              </a:rPr>
              <a:t>The closest view of what the MVP looks like. This is also where the modelling decisions start to matter.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Arrears is a calculation, not a column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120640" cy="2286000"/>
          </a:xfrm>
          <a:prstGeom prst="rect">
            <a:avLst/>
          </a:prstGeom>
          <a:solidFill>
            <a:srgbClr val="F7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3317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3423A"/>
                </a:solidFill>
                <a:latin typeface="Consolas"/>
              </a:rPr>
              <a:t>THE EASY 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97480"/>
            <a:ext cx="4572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243"/>
                </a:solidFill>
                <a:latin typeface="Segoe UI"/>
              </a:rPr>
              <a:t>This month's charge minus this month's payment.
A household that pays two weeks late every month looks permanently in arrears. One that missed a month last year and never made it up looks fine.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120640" cy="2286000"/>
          </a:xfrm>
          <a:prstGeom prst="rect">
            <a:avLst/>
          </a:prstGeom>
          <a:solidFill>
            <a:srgbClr val="F1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3317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WHAT WE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97480"/>
            <a:ext cx="4572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3243"/>
                </a:solidFill>
                <a:latin typeface="Segoe UI"/>
              </a:rPr>
              <a:t>Receipts settle the oldest outstanding charge first, because that is how a rent account actually settles.
The aging bucket follows the oldest charge still carrying a balance.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F3243"/>
                </a:solidFill>
                <a:latin typeface="Georgia"/>
              </a:rPr>
              <a:t>Both wrong answers reach a caseworker.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Georgia"/>
              </a:rPr>
              <a:t>One sends a collections letter to somebody who is current. The other misses a household that has been sliding for a year.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Direct Lake, Import, DirectQuery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3429000" cy="265176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3429000" cy="508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2971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F6F6B"/>
                </a:solidFill>
                <a:latin typeface="Georgia"/>
              </a:rPr>
              <a:t>Direct 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Reads the Delta files directly.
No import. No refresh schedule.
No second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F6F6B"/>
                </a:solidFill>
                <a:latin typeface="Consolas"/>
              </a:rPr>
              <a:t>WHAT WE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16552" y="2148840"/>
            <a:ext cx="3429000" cy="265176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16552" y="2148840"/>
            <a:ext cx="3429000" cy="508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377440"/>
            <a:ext cx="2971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4748B"/>
                </a:solidFill>
                <a:latin typeface="Georgia"/>
              </a:rPr>
              <a:t>Import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92608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A copy held in memory.
Fastest queries, but a refresh
schedule and a latency.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10144" y="2148840"/>
            <a:ext cx="3429000" cy="265176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2148840"/>
            <a:ext cx="3429000" cy="508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2971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64748B"/>
                </a:solidFill>
                <a:latin typeface="Georgia"/>
              </a:rPr>
              <a:t>DirectQuery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92608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Every query goes to the source.
Always current, slowest, and it
puts reporting load on the source.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074920"/>
            <a:ext cx="10515600" cy="1234440"/>
          </a:xfrm>
          <a:prstGeom prst="rect">
            <a:avLst/>
          </a:prstGeom>
          <a:solidFill>
            <a:srgbClr val="EC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2"/>
            <a:ext cx="9875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Georgia"/>
              </a:rPr>
              <a:t>Direct Lake is why the medallion and the semantic layer are not two projects. </a:t>
            </a:r>
          </a:p>
          <a:p>
            <a:pPr algn="l"/>
            <a:r>
              <a:rPr sz="1500" b="0">
                <a:solidFill>
                  <a:srgbClr val="64748B"/>
                </a:solidFill>
                <a:latin typeface="Georgia"/>
              </a:rPr>
              <a:t>When the pipeline writes, the model sees it. The trade is one operational edge: replace a table rather than append to it and the model needs rebinding, not just refreshing.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Security, privacy and data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48463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Workspace roles — Admin, Member, Contributor, Viewer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OneLake data access roles — folder level, so Gold without Bronze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Row-level security — a caseworker sees their portfolio, a director sees all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Object-level security — hide a column or a table from a role entirely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PROTECTION AND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468880"/>
            <a:ext cx="49377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Sensitivity labels via Purview, travelling with exports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Entra ID groups as the single place access is granted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Private endpoints — a design decision with your network team, early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1F3243"/>
                </a:solidFill>
                <a:latin typeface="Segoe UI"/>
              </a:rPr>
              <a:t>• Tenant data in the dev environment — live, masked, or synthetic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349240"/>
            <a:ext cx="10424160" cy="1051560"/>
          </a:xfrm>
          <a:prstGeom prst="rect">
            <a:avLst/>
          </a:prstGeom>
          <a:solidFill>
            <a:srgbClr val="FA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5532120"/>
            <a:ext cx="9966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8A2E"/>
                </a:solidFill>
                <a:latin typeface="Georgia"/>
              </a:rPr>
              <a:t>A question back to you: </a:t>
            </a:r>
          </a:p>
          <a:p>
            <a:pPr algn="l"/>
            <a:r>
              <a:rPr sz="1500" b="0">
                <a:solidFill>
                  <a:srgbClr val="1F3243"/>
                </a:solidFill>
                <a:latin typeface="Georgia"/>
              </a:rPr>
              <a:t>does the development environment use live, masked, or synthetic tenant data? Everything you will see today is synthetic. That is the safest default, and it should be a decision rather than an omission.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Governance, capacity and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Domains and workspaces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103120"/>
            <a:ext cx="7223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One workspace per environment per domain is the usual starting shape. Decide the naming convention before the first workspace, not the fifth.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Purview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127248"/>
            <a:ext cx="7223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Lineage across OneLake, so “where did this number come from” has an answer that is not a person.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51376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51376"/>
            <a:ext cx="7223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F-SKUs are a shared pool. Interactive queries and background jobs draw on the same units, and Fabric smooths bursts. The Capacity Metrics app shows what is actually consuming.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75504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Git and deployment pipelines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5175504"/>
            <a:ext cx="7223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This entire demo is in a repository — notebooks, pipeline, model and report. Deployment pipelines promote between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989320"/>
            <a:ext cx="10424160" cy="658368"/>
          </a:xfrm>
          <a:prstGeom prst="rect">
            <a:avLst/>
          </a:prstGeom>
          <a:solidFill>
            <a:srgbClr val="EC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126480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Georgia"/>
              </a:rPr>
              <a:t>We are not quoting an F-SKU today. It depends on volume, refresh pattern and concurrency, and none of those are known yet.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BEYOND THIS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Where the AI piece 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Georgia"/>
              </a:rPr>
              <a:t>Out of scope for the MVP, and worth deciding deliberately rather than drifting into.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23160"/>
            <a:ext cx="3346704" cy="27432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423160"/>
            <a:ext cx="3346704" cy="508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ASK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29260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243"/>
                </a:solidFill>
                <a:latin typeface="Segoe UI"/>
              </a:rPr>
              <a:t>A Fabric data agent over the Gold layer.
“Which buildings carry the most
balance over ninety days?” in plain
language, against the same measures
the report uses.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28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onsolas"/>
              </a:rPr>
              <a:t>Closest to ready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9976" y="2423160"/>
            <a:ext cx="3346704" cy="27432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9976" y="2423160"/>
            <a:ext cx="3346704" cy="508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65176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EXPLAIN THE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063240"/>
            <a:ext cx="29260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243"/>
                </a:solidFill>
                <a:latin typeface="Segoe UI"/>
              </a:rPr>
              <a:t>A monthly arrears briefing, written
from the pipeline's own numbers.
The model never calculates. It renders
what Gold produced, and every figure
cites the row it came from.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4828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onsolas"/>
              </a:rPr>
              <a:t>Built twice, elsewhere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91271" y="2423160"/>
            <a:ext cx="3346704" cy="2743200"/>
          </a:xfrm>
          <a:prstGeom prst="rect">
            <a:avLst/>
          </a:prstGeom>
          <a:solidFill>
            <a:srgbClr val="F5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91271" y="2423160"/>
            <a:ext cx="3346704" cy="508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1" y="265176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C08A2E"/>
                </a:solidFill>
                <a:latin typeface="Consolas"/>
              </a:rPr>
              <a:t>DECIDE WITH THE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1" y="3063240"/>
            <a:ext cx="29260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3243"/>
                </a:solidFill>
                <a:latin typeface="Segoe UI"/>
              </a:rPr>
              <a:t>Ranking households for contact.
This stops being a technology question.
Arrears touches somebody's housing,
and that needs governance before it
needs a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871" y="4828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Consolas"/>
              </a:rPr>
              <a:t>Not without a policy owner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394960"/>
            <a:ext cx="10424160" cy="1234440"/>
          </a:xfrm>
          <a:prstGeom prst="rect">
            <a:avLst/>
          </a:prstGeom>
          <a:solidFill>
            <a:srgbClr val="F7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577840"/>
            <a:ext cx="9966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3423A"/>
                </a:solidFill>
                <a:latin typeface="Georgia"/>
              </a:rPr>
              <a:t>The guardrail that matters here.  </a:t>
            </a:r>
          </a:p>
          <a:p>
            <a:pPr algn="l"/>
            <a:r>
              <a:rPr sz="1500" b="0">
                <a:solidFill>
                  <a:srgbClr val="1F3243"/>
                </a:solidFill>
                <a:latin typeface="Georgia"/>
              </a:rPr>
              <a:t>A household with a balance, a household we hold no data for, and a household outside the extract are three different things. Only the first is a finding. Any layer that lets them collapse into one list will eventually put the wrong name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BEYOND THIS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What the AI piece actually costs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Two tenant switches, not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103120"/>
            <a:ext cx="7040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A Fabric data agent needs Copilot and Azure AI enabled, and separately needs data permitted to leave the capacity's geography for processing. For an Ontario housing provider the second is a residency decision, not a checkbox.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36391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Grounding is engineering, not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3136391"/>
            <a:ext cx="7040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The pipeline decides what the model may see, and hands it a bounded evidence envelope. That work sits in the Gold layer and the contract between them — which is why it comes after the MVP, not instead of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9663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Validate the contract, not just the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4169663"/>
            <a:ext cx="7040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In an earlier build, an agent given no evidence returned a perfectly valid document citing a source that did not exist. Schema validation passed it. Only a second, independent check caught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02936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Segoe UI"/>
              </a:rPr>
              <a:t>A refusal has to be expressible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202936"/>
            <a:ext cx="70408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If the only valid answer shape is an answer, a model will invent one. It needs a lawful way to return nothing.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6080760"/>
            <a:ext cx="10424160" cy="658368"/>
          </a:xfrm>
          <a:prstGeom prst="rect">
            <a:avLst/>
          </a:prstGeom>
          <a:solidFill>
            <a:srgbClr val="EC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217920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Georgia"/>
              </a:rPr>
              <a:t>None of this is a reason not to do it. It is the reason to do the medallion and the semantic model first.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ITEM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1F3243"/>
                </a:solidFill>
                <a:latin typeface="Georgia"/>
              </a:rPr>
              <a:t>Pre-kickoff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1097280" cy="381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Georgia"/>
              </a:rPr>
              <a:t>An owner and a date against each, before we leave the room.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551176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478024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TCHC product owner named, with allocation confirmed for the engagement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478024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247802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3063240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99008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Fabric capacity decision — F-SKU size, reservation, Microsoft-hosted or TCHC tenant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2990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99008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" y="3575304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502152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Azure subscription, Entra ID groups, administrative access for environment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502152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502152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4087368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014215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Source system access for arrears and vacancy, plus a gateway host if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014215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14215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4599432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52628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Azure DevOps or GitHub project available to the delivery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452628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452628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" y="5111496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5038344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Development environment data — live, masked, or synthetic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038344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50383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5623560"/>
            <a:ext cx="146304" cy="146304"/>
          </a:xfrm>
          <a:prstGeom prst="rect">
            <a:avLst/>
          </a:prstGeom>
          <a:noFill/>
          <a:ln w="15875">
            <a:solidFill>
              <a:srgbClr val="2F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555040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F3243"/>
                </a:solidFill>
                <a:latin typeface="Segoe UI"/>
              </a:rPr>
              <a:t>Security and privacy review slot booked inside the first two weeks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555040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owner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5550408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6CFCF"/>
                </a:solidFill>
                <a:latin typeface="Consolas"/>
              </a:rPr>
              <a:t>date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6263640"/>
            <a:ext cx="10424160" cy="25400"/>
          </a:xfrm>
          <a:prstGeom prst="rect">
            <a:avLst/>
          </a:prstGeom>
          <a:solidFill>
            <a:srgbClr val="2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640080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243"/>
                </a:solidFill>
                <a:latin typeface="Georgia"/>
              </a:rPr>
              <a:t>Kickoff: week of 14 September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2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517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FC4BE"/>
                </a:solidFill>
                <a:latin typeface="Consolas"/>
              </a:rPr>
              <a:t>WHAT WE ARE ASKING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Georgia"/>
              </a:rPr>
              <a:t>The two answers that shape everything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43400"/>
            <a:ext cx="96926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B4C1C2"/>
                </a:solidFill>
                <a:latin typeface="Georgia"/>
              </a:rPr>
              <a:t>Which system is the system of record for arrears balances, and which for unit vacancy — and what integration surface each one offers.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B4C1C2"/>
                </a:solidFill>
                <a:latin typeface="Georgia"/>
              </a:rPr>
              <a:t>How current the data has to be for the decision the business actually makes. Daily, intraday, or near real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APPENDIX  ·  REPORT PAGE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Georgia"/>
              </a:rPr>
              <a:t>Arrears overview — portfolio position, trend, aging, concentration</a:t>
            </a:r>
          </a:p>
        </p:txBody>
      </p:sp>
      <p:pic>
        <p:nvPicPr>
          <p:cNvPr id="4" name="Picture 3" descr="fina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7832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onsolas"/>
              </a:rPr>
              <a:t>Synthetic data. 120 buildings, 10,568 units, 24 months.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APPENDIX  ·  REPORT PAGE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Georgia"/>
              </a:rPr>
              <a:t>Arrears deep dive — where the balance sits, and the caseload table</a:t>
            </a:r>
          </a:p>
        </p:txBody>
      </p:sp>
      <p:pic>
        <p:nvPicPr>
          <p:cNvPr id="4" name="Picture 3" descr="fina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7832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onsolas"/>
              </a:rPr>
              <a:t>Synthetic data. 120 buildings, 10,568 units, 24 months.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F6F6B"/>
                </a:solidFill>
                <a:latin typeface="Consolas"/>
              </a:rPr>
              <a:t>APPENDIX  ·  REPORT PAGE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F3243"/>
                </a:solidFill>
                <a:latin typeface="Georgia"/>
              </a:rPr>
              <a:t>Vacancy and turnaround — vacancy, revenue forgone, turnaround days</a:t>
            </a:r>
          </a:p>
        </p:txBody>
      </p:sp>
      <p:pic>
        <p:nvPicPr>
          <p:cNvPr id="4" name="Picture 3" descr="fina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7832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onsolas"/>
              </a:rPr>
              <a:t>Synthetic data. 120 buildings, 10,568 units, 24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