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606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and brief positioning. Keep under 60 seconds.
OPENING
• Thanks for the time — this is a working session, not a pitch.
• The framing here is migration, not greenfield. You already have a working data estate; what we want to discuss is whether Fabric is the right home for the 2026 governance refresh.
• Plan: ~35 minutes presented, ~25 minutes Q&amp;A and discussion.
TONE
• Throughout the deck we are deliberately honest about what stays the same (Cosmos can stay; domain model stays; Power BI stays). The question is what consolidates underneath.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2 minutes. Establish baseline before pitching.
TOP STRIP — the 6-stage architecture
• SOURCES (clean) → ORCHESTRATE (ADF, red) → STAGE (Publish DB, red) → STORE (Cosmos + DBX, red) → CURATE (marts, clean) → SERVE (Power BI, red)
• Red category bands + warning dots flag the 4 layers where friction lives today.
• Sources and curated marts are kept (no red) — they survive the migration largely unchanged.
• "3 governance stacks" annotation underneath: Databricks UC + Cosmos RBAC + Power BI workspace ACLs.
LEFT — WHAT WORKS  (be honest; the team did good architecture)
• Clean domain model — Customer/Distributor/Product/Finance/System — we'll keep this exact mapping in Fabric.
• Open formats — Delta + Parquet already; the foundation is portable.
• Unity Catalog footprint — governance is already taken seriously.
RIGHT — FRICTION  (the case for change)
• 3 audit surfaces: anything cross-domain requires aligning three different policy systems.
• Doc + tabular separated: every RAG case needs a custom integration between Cosmos and the tabular world.
• PBI imports: dashboards have refresh windows and dataset size limits.
IF ASKED
• Q: Are we saying the current stack is broken?  A: No — it works. We're saying the 2026 refresh is an opportunity to consolidate, not to break-and-rebuild.
• Q: What about the AI box on the 2026 roadmap?  A: Covered on slide 7 — that's where Fabric Data Agent + Copilot directly fills it.
• Q: Why is ORCHESTRATE marked red?  A: ADF is a separate orchestration tier whose value Fabric Pipelines fully replaces. Retiring it removes a SKU, a deployment pipeline, and a runtime to manage.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3 minutes. The technical case in one slide.
WALK CARDS LEFT-TO-RIGHT, TOP-TO-BOTTOM
01 ONE COPY OF DATA
• OneLake replaces the EDL + Cosmos + flattened tables three-way shuffle.
• No more Gobblin-style copy jobs to keep five layers in sync.
• Same Delta bytes for Spark, Warehouse, Power BI, and Data Agent.
02 DOMAIN OWNERSHIP PRESERVED
• Your 5 domains map 1:1 onto Fabric workspaces + lakehouses + Delta schemas.
• Each domain team still owns their data — no platform centralization.
• Platform governance lives ABOVE the domains, not inside them.
03 GOVERNANCE REFRESH, SOLVED
• The UC refresh planned for 2026 — OneLake + Purview delivers that without porting policies to a third tool.
• Built-in sensitivity labels, DLP, end-to-end lineage.
• One audit surface for everything Fabric touches.
04 AI SELF-SERVICE, NATIVE
• Data Agent does NL → SQL/DAX/RAG, grounded on the semantic model.
• Copilot for Power BI delivers in-dashboard AI for analysts.
• This is the AI box you already had on your 2026 roadmap.
05 LOWER RUN COST &amp; OPS SURFACE
• Retire ADF (orchestration), DBU $/hr (compute), Cosmos RU (where mirrored), per-workspace PBI Premium.
• Single F-SKU covers ingest, transform, warehouse, BI, AI.
• Pausable for non-business-hours — meaningful for an APAC workload.
06 OPEN &amp; NON-LOCKING
• Underneath: Delta + Parquet on ADLS Gen2. Same standards as today.
• Mirroring + Shortcuts mean Cosmos and Databricks-managed tables appear in OneLake without movement.
IF ASKED
• Q: Does this mean retiring Databricks?  A: Phased. You can shortcut Databricks-managed tables into OneLake first; retire compute later only when economically obvious.
• Q: Cosmos stays?  A: Yes — Mirroring gives OneLake a Delta view of Cosmos without changing the Cosmos workload.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4 minutes — the most important slide if your team is in evaluation mode.
FOUR-COLUMN STRUCTURE: Layer  ·  Current (red header)  ·  Fabric (green header)  ·  Why it's better (dark header)
• The "Why" column should be read aloud — it's the takeaway per row.
WALK ROW BY ROW
• Source ingest: ADF + DBX notebooks → Pipelines + Mirroring + Shortcuts. Win: zero-code Mirror, one tool.
• EDL: relational Publish DB copy → OneLake bronze open Delta. Win: no serialization to a publish DB.
• Doc data: Cosmos stays — mirrored into OneLake AND still operational. Win: same Cosmos, queryable as Delta.
• Tabular per domain: Flattened tables → lakehouse schemas via DirectLake. Win: no import, no refresh window.
• Curated marts: Griffin/AML/IFRS/CDP/VOICE survive as warehouses + semantic models on OneLake. Win: governed measures reused everywhere.
• Governance: UC refresh planned for 2026 → replaced by OneLake security + Purview. Win: the 2026 refresh, already integrated.
• BI: Power BI on DBX SQL endpoint → Power BI on DirectLake. Win: sub-second queries, no refresh.
• AI self-service: the 2026 box is filled today by Data Agent + Copilot.
• Compute: DBU + ADF IR + RU + PBI Pro → one pausable F-SKU. Win: one bill, smoothed bursts.
IF ASKED
• Q: Can we keep Databricks compute for some workloads?  A: Yes. Shortcuts surface Databricks-managed tables in OneLake; you choose what to migrate by economic case.
• Q: Cosmos costs?  A: Cosmos itself doesn't change. Mirroring is a Fabric-side cost, not a Cosmos-side cost.
• Q: How do we evaluate the SKU economics?  A: Phase 0 in the migration plan includes an inventory of ADF, DBU, RU, PBI consumption — F-SKU sizing falls out of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3 minutes. Read top-down: data flows up.
LAYERS
• SOURCES — unchanged. Same 6 source systems your team already integrates.
• INGESTION — Fabric Pipelines + Mirroring replace ADF + Databricks ingest notebooks. Zero-code mirror is the headline.
• ONELAKE — bronze in Delta. Cosmos and SQL come in via Mirroring; no movement code. AI Search vector-indexes documents.
• DOMAINS — your 5 domains map 1:1 onto Fabric workspaces / lakehouses. Each holds Silver (cleansed) + Gold (curated marts). Owned by the domain team.
• SEMANTIC + AI — DirectLake semantic model defines JPY measures: Total Premium, AUM, Claims Ratio, Approval Rate. Queries hit Delta in place — no import, no refresh.
• CONSUMPTION — Power BI, Data Agent (Japanese + English), Copilot, custom APIs.
GOVERNANCE RAIL (right)
• OneLake security at the lake level. Purview unifies discovery + lineage. Entra ID for RBAC. Sensitivity labels propagate. End-to-end lineage from source mirror to PBI report.
KEY DESIGN POINT
• The 5-domain structure is preserved exactly. We are NOT centralizing data ownership. Domain teams own their lakehouses; platform team owns the substrate and governance.
• Cosmos doesn't go away. It's mirrored, not replaced.
IF ASKED
• Q: Can a domain team have its own semantic model?  A: Yes — domains can publish their own semantic models; the platform team owns shared cross-domain models.
• Q: Multi-region (Japan data residency)?  A: OneLake capacities are region-pinned. MLJ's workspaces stay in Japan East or Japan West.
• Q: How does DirectLake handle large fact tables?  A: It reads delta in place. Performance is bounded by capacity, not by import refresh. The POC uses F64.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3 minutes. This slide answers "why touch governance at all?"
LEFT — UNITY CATALOG TODAY (be fair)
• Scope: solid inside Databricks. Outside it, you have policies in Cosmos, Power BI, and Azure RBAC.
• Cosmos, Power BI: outside UC by design — UC is a Databricks construct.
• Lineage: strong inside Databricks; gaps at the boundaries (data coming in from Cosmos; going out to PBI).
• Sensitivity labels: UC doesn't have them natively — most customers run Purview alongside anyway.
• Audit surface: 4 places to look. UC + Cosmos RBAC + PBI workspace ACLs + Azure RBAC.
• AI grounding: there's no native NL-to-SQL surface grounded on a semantic layer. That's the 2026 box.
RIGHT — ONELAKE + PURVIEW (target)
• Scope: everything Fabric touches plus everything Purview discovers.
• Cosmos: mirrored, but policies follow.
• Power BI: items are first-class Purview entities; lineage flows through.
• Lineage: end-to-end from source mirror, through bronze/silver/gold, to PBI report and Data Agent answer.
• Sensitivity labels: built in, propagate to consumers automatically.
• Audit: one place — Purview.
• AI grounding: native, governed.
THE MIDDLE ARROW
• This IS the 2026 governance refresh you've already planned. We're not adding a project; we're delivering one that was already on the roadmap.
IF ASKED
• Q: Can we keep UC for Databricks workloads we don't migrate?  A: Yes. Coexistence is supported during the parallel-run phase.
• Q: Purview is a separate licence?  A: Yes — separate but small. The cost vs. owning a third UC refresh project is favourable.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3 minutes. The slide that closes the AI-readiness gap.
LEFT — HOW IT WORKS
• 01 — Business user asks in Japanese or English. Same agent handles both languages.
• 02 — Data Agent decides where to ground: semantic model (for numeric questions), lakehouse tables (for raw lookups), AI Search index (for documents).
• 03 — Critically, the Agent only calls CURATED measures and indexed documents — it doesn't invent SQL on raw tables. That's how we keep answers governable.
• 04 — Answer comes back with citations — a measure name, a table reference, a document and page.
RIGHT — REAL MLJ EXAMPLES
• Distribution: AUM by region, by quarter. Most common Power BI question, now conversational.
• Underwriting: declined-application analysis, time-bounded.
• Finance: IFRS 17 CSM run-off — by product line. This is the kind of query that takes a finance analyst half a day in Excel today.
• Customer service: policy-document Q&amp;A. Pure RAG path. Citations include page numbers.
DESIGN COMMITMENTS
• Japanese-language ready: agent instructions, semantic model labels, embeddings all support JP.
• Inherits OneLake security — if a user can't see Tokyo customers in PBI, the agent can't return them either.
• Every answer is grounded. No free-text hallucination surface.
IF ASKED
• Q: What model powers the agent?  A: Azure OpenAI (GPT-4o family). Configurable per region.
• Q: Can users see the generated query?  A: Yes — audit logs show the resolved DAX/SQL. We can also expose it in the UI for power users.
• Q: Customizable per domain?  A: Yes — agent instructions and tool catalogs can be scoped per workspace.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2 minutes. Show how the existing domain ownership maps cleanly.
PRINCIPLE
• Same 5 domains. Same teams own them. The platform layer underneath is what changes.
PER COLUMN
• Customer: sourced from Customer System + Illustration &amp; App. Silver = policies/applications/contacts. Gold curated marts = CDP and VOICE/CAR — these stay.
• Distributor: agency performance. Distributor 360 mart.
• Product: catalogue + riders. Product P&amp;L mart.
• Finance: premiums/claims/GL. IFRS 17, CSM, P&amp;L marts — same names, same definitions, now on OneLake.
• System: ops telemetry. Griffin and AML — these are your DQ + compliance marts.
KEY POINTS
• Curated mart NAMES survive the migration. Griffin is still Griffin. IFRS 17 measures keep their definitions. We're not redefining business logic.
• Each domain gets its own Fabric workspace; domain team owns it.
• Cross-domain semantic models (e.g., a customer-360 view) live in a shared platform workspace.
IF ASKED
• Q: Can two domains share a lakehouse?  A: Yes, but the recommended pattern is one lakehouse per domain. Cross-domain via Shortcuts.
• Q: What about ad-hoc analyst workspaces?  A: Separate "personal" or "team" workspaces with Shortcuts to the curated layer. No raw editing.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— 12–15 minutes if going through all 6.
PACING
• Don't try to do all 6 deeply. Pick the 2-3 that matter most for the room.
• For a CIO/CTO audience: 01 (OneLake layout) + 05 (Data Agent in JP) + 06 (governance lineage).
• For a data engineering audience: 02 (notebooks) + 03 (DirectLake) + 06.
DEMO HYGIENE
• Connectivity to the F64 POC capacity is required. If anything is flaky, fall back to screenshots — the architecture is the point.
• Have the Japanese-language Data Agent query ready to copy-paste; typing JP live is fragile.
KEY NARRATIVE MOMENTS
• At step 03 (DirectLake): point out that there's no refresh button. Queries hit Delta in place.
• At step 05 (Data Agent): show the citations panel. Every answer ties back to a measure or a document chunk.
• At step 06 (Lineage): show one end-to-end path — source mirror → silver → gold → semantic model → Power BI visual → Data Agent answer — all in one Purview view.
IF ASKED
• Q: Can we run this against our own data after the workshop?  A: Yes — the POC workspace is reproducible. We can stand up a sandboxed equivalent with Mirroring to a non-prod Cosmos in 2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3 minutes. The slide that turns a vision into a project plan — point at the DELIVERABLES list in each phase.
WALK PHASES LEFT-TO-RIGHT
• Phase 0 — Discover (1-2 wks): inventory exercise. ADF + DBX jobs, UC schemas, Cosmos collections, F-SKU sizing inputs. Output is a heat map for Mirroring quick wins.
• Phase 1 — Coexist (6-8 wks): Fabric stood up next to existing stack. Mirror Cosmos + SQL, shortcut DBX tables, build Customer lakehouse end-to-end, run validation queries in parallel. NO cutover yet.
• Phase 2 — Migrate (3-6 mo): one domain at a time. Customer → Distributor → Product → Finance → System. Re-platform Griffin/AML/IFRS marts. Power BI on DirectLake. Purview policies go live.
• Phase 3 — Retire (1-2 mo): decommission ADF, retire DBX jobs, sunset UC. Roll out Data Agent + Copilot to actual business users. Final audit cutover.
• Phase 4 — Optimise (ongoing): right-size F-SKU, set pause windows for nights/weekends, monthly FinOps review, expand AI per domain.
KEY PRINCIPLE (bottom strip — emphasize verbally)
• Parallel run. We don't cut over a domain until Fabric output matches the current stack on a defined set of validation queries.
• The 2026 governance refresh moves UNDER this umbrella. You don't run it as a separate project.
IF ASKED
• Q: Why Customer first?  A: Highest business value, broadest stakeholder set, and good RAG candidates (policy documents). Failure mode is also least risky.
• Q: What if a phase slips?  A: Phases are independent. Phase 1 can extend without forcing Phase 2; coexistence is sustainable.
• Q: Total timeline?  A: 6 months realistic to retire ADF + DBX for the first 3 domains; 9-12 months for full retirement.
• Q: What's the smallest unit of progress we'd see?  A: Phase 1 delivers one production-shape DirectLake report on Customer data — that's a real, demoable artifact within 8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workshop. Keep warm and decisive.
ANCHOR QUESTIONS
• Which domain runs Phase 1? Our recommendation is Customer (highest business value, broadest stakeholder set, includes RAG candidates).
• Who from MLJ owns the Mirroring proof in 30 days? Need a named DRI.
• Who attends the Phase 1 design workshop? Recommend: data platform lead, security lead, FinOps lead, and the Customer domain owner.
CLOSE
• Thank everyone. Confirm the deck and the POC repo will be shared.
• Align on next meeting date — ideally within 2 weeks.
DECISION POINTS NEEDED FROM MLJ
• Domain choice for Phase 1.
• Named DRIs for the 30/60/90 milestones.
• F-SKU sizing approval (can be deferred to Phase 0 output).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5486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9006840" y="5486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9326880" y="5486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9646920" y="5486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9966960" y="5486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10287000" y="5486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10607040" y="5486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10927080" y="5486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11247120" y="5486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11567160" y="5486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8686800" y="8686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9006840" y="8686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9326880" y="8686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9646920" y="8686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9966960" y="8686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10287000" y="8686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10607040" y="8686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10927080" y="8686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11247120" y="8686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11567160" y="8686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8686800" y="11887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9006840" y="11887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9326880" y="11887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9646920" y="11887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9966960" y="11887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10287000" y="11887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10607040" y="11887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Shape 27"/>
          <p:cNvSpPr/>
          <p:nvPr/>
        </p:nvSpPr>
        <p:spPr>
          <a:xfrm>
            <a:off x="10927080" y="11887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Shape 28"/>
          <p:cNvSpPr/>
          <p:nvPr/>
        </p:nvSpPr>
        <p:spPr>
          <a:xfrm>
            <a:off x="11247120" y="11887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1" name="Shape 29"/>
          <p:cNvSpPr/>
          <p:nvPr/>
        </p:nvSpPr>
        <p:spPr>
          <a:xfrm>
            <a:off x="11567160" y="11887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2" name="Shape 30"/>
          <p:cNvSpPr/>
          <p:nvPr/>
        </p:nvSpPr>
        <p:spPr>
          <a:xfrm>
            <a:off x="8686800" y="1508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3" name="Shape 31"/>
          <p:cNvSpPr/>
          <p:nvPr/>
        </p:nvSpPr>
        <p:spPr>
          <a:xfrm>
            <a:off x="9006840" y="1508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4" name="Shape 32"/>
          <p:cNvSpPr/>
          <p:nvPr/>
        </p:nvSpPr>
        <p:spPr>
          <a:xfrm>
            <a:off x="9326880" y="1508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5" name="Shape 33"/>
          <p:cNvSpPr/>
          <p:nvPr/>
        </p:nvSpPr>
        <p:spPr>
          <a:xfrm>
            <a:off x="9646920" y="1508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6" name="Shape 34"/>
          <p:cNvSpPr/>
          <p:nvPr/>
        </p:nvSpPr>
        <p:spPr>
          <a:xfrm>
            <a:off x="9966960" y="1508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7" name="Shape 35"/>
          <p:cNvSpPr/>
          <p:nvPr/>
        </p:nvSpPr>
        <p:spPr>
          <a:xfrm>
            <a:off x="10287000" y="1508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8" name="Shape 36"/>
          <p:cNvSpPr/>
          <p:nvPr/>
        </p:nvSpPr>
        <p:spPr>
          <a:xfrm>
            <a:off x="10607040" y="1508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9" name="Shape 37"/>
          <p:cNvSpPr/>
          <p:nvPr/>
        </p:nvSpPr>
        <p:spPr>
          <a:xfrm>
            <a:off x="10927080" y="1508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0" name="Shape 38"/>
          <p:cNvSpPr/>
          <p:nvPr/>
        </p:nvSpPr>
        <p:spPr>
          <a:xfrm>
            <a:off x="11247120" y="1508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1" name="Shape 39"/>
          <p:cNvSpPr/>
          <p:nvPr/>
        </p:nvSpPr>
        <p:spPr>
          <a:xfrm>
            <a:off x="11567160" y="1508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2" name="Shape 40"/>
          <p:cNvSpPr/>
          <p:nvPr/>
        </p:nvSpPr>
        <p:spPr>
          <a:xfrm>
            <a:off x="8686800" y="1828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3" name="Shape 41"/>
          <p:cNvSpPr/>
          <p:nvPr/>
        </p:nvSpPr>
        <p:spPr>
          <a:xfrm>
            <a:off x="9006840" y="1828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4" name="Shape 42"/>
          <p:cNvSpPr/>
          <p:nvPr/>
        </p:nvSpPr>
        <p:spPr>
          <a:xfrm>
            <a:off x="9326880" y="1828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5" name="Shape 43"/>
          <p:cNvSpPr/>
          <p:nvPr/>
        </p:nvSpPr>
        <p:spPr>
          <a:xfrm>
            <a:off x="9646920" y="1828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6" name="Shape 44"/>
          <p:cNvSpPr/>
          <p:nvPr/>
        </p:nvSpPr>
        <p:spPr>
          <a:xfrm>
            <a:off x="9966960" y="1828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7" name="Shape 45"/>
          <p:cNvSpPr/>
          <p:nvPr/>
        </p:nvSpPr>
        <p:spPr>
          <a:xfrm>
            <a:off x="10287000" y="1828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8" name="Shape 46"/>
          <p:cNvSpPr/>
          <p:nvPr/>
        </p:nvSpPr>
        <p:spPr>
          <a:xfrm>
            <a:off x="10607040" y="1828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9" name="Shape 47"/>
          <p:cNvSpPr/>
          <p:nvPr/>
        </p:nvSpPr>
        <p:spPr>
          <a:xfrm>
            <a:off x="10927080" y="1828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0" name="Shape 48"/>
          <p:cNvSpPr/>
          <p:nvPr/>
        </p:nvSpPr>
        <p:spPr>
          <a:xfrm>
            <a:off x="11247120" y="1828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1" name="Shape 49"/>
          <p:cNvSpPr/>
          <p:nvPr/>
        </p:nvSpPr>
        <p:spPr>
          <a:xfrm>
            <a:off x="11567160" y="1828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2" name="Shape 50"/>
          <p:cNvSpPr/>
          <p:nvPr/>
        </p:nvSpPr>
        <p:spPr>
          <a:xfrm>
            <a:off x="8686800" y="2148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3" name="Shape 51"/>
          <p:cNvSpPr/>
          <p:nvPr/>
        </p:nvSpPr>
        <p:spPr>
          <a:xfrm>
            <a:off x="9006840" y="2148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4" name="Shape 52"/>
          <p:cNvSpPr/>
          <p:nvPr/>
        </p:nvSpPr>
        <p:spPr>
          <a:xfrm>
            <a:off x="9326880" y="2148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5" name="Shape 53"/>
          <p:cNvSpPr/>
          <p:nvPr/>
        </p:nvSpPr>
        <p:spPr>
          <a:xfrm>
            <a:off x="9646920" y="2148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6" name="Shape 54"/>
          <p:cNvSpPr/>
          <p:nvPr/>
        </p:nvSpPr>
        <p:spPr>
          <a:xfrm>
            <a:off x="9966960" y="2148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7" name="Shape 55"/>
          <p:cNvSpPr/>
          <p:nvPr/>
        </p:nvSpPr>
        <p:spPr>
          <a:xfrm>
            <a:off x="10287000" y="2148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8" name="Shape 56"/>
          <p:cNvSpPr/>
          <p:nvPr/>
        </p:nvSpPr>
        <p:spPr>
          <a:xfrm>
            <a:off x="10607040" y="2148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9" name="Shape 57"/>
          <p:cNvSpPr/>
          <p:nvPr/>
        </p:nvSpPr>
        <p:spPr>
          <a:xfrm>
            <a:off x="10927080" y="2148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0" name="Shape 58"/>
          <p:cNvSpPr/>
          <p:nvPr/>
        </p:nvSpPr>
        <p:spPr>
          <a:xfrm>
            <a:off x="11247120" y="2148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1" name="Shape 59"/>
          <p:cNvSpPr/>
          <p:nvPr/>
        </p:nvSpPr>
        <p:spPr>
          <a:xfrm>
            <a:off x="11567160" y="2148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2" name="Text 60"/>
          <p:cNvSpPr/>
          <p:nvPr/>
        </p:nvSpPr>
        <p:spPr>
          <a:xfrm>
            <a:off x="640080" y="1463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 ×  MANULIFE  JAPAN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40080" y="18745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Unity Catalog</a:t>
            </a:r>
            <a:endParaRPr lang="en-US" sz="5600" dirty="0"/>
          </a:p>
        </p:txBody>
      </p:sp>
      <p:sp>
        <p:nvSpPr>
          <p:cNvPr id="64" name="Text 62"/>
          <p:cNvSpPr/>
          <p:nvPr/>
        </p:nvSpPr>
        <p:spPr>
          <a:xfrm>
            <a:off x="640080" y="26974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Microsoft Fabric.</a:t>
            </a:r>
            <a:endParaRPr lang="en-US" sz="5600" dirty="0"/>
          </a:p>
        </p:txBody>
      </p:sp>
      <p:sp>
        <p:nvSpPr>
          <p:cNvPr id="65" name="Text 63"/>
          <p:cNvSpPr/>
          <p:nvPr/>
        </p:nvSpPr>
        <p:spPr>
          <a:xfrm>
            <a:off x="64008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data + AI platform for the 2026 governance refresh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640080" y="5120640"/>
            <a:ext cx="36576" cy="9144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7" name="Text 65"/>
          <p:cNvSpPr/>
          <p:nvPr/>
        </p:nvSpPr>
        <p:spPr>
          <a:xfrm>
            <a:off x="868680" y="5120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&amp;  AI  WORKSHOP  ·  TECHNICAL READOUT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68680" y="5440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Microsoft for Manulife Japan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68680" y="5760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•  Confidential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8595360" y="4023360"/>
            <a:ext cx="36576" cy="2286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1" name="Text 69"/>
          <p:cNvSpPr/>
          <p:nvPr/>
        </p:nvSpPr>
        <p:spPr>
          <a:xfrm>
            <a:off x="8823960" y="40233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 THIS  COVERS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842248" y="4553712"/>
            <a:ext cx="73152" cy="73152"/>
          </a:xfrm>
          <a:prstGeom prst="ellipse">
            <a:avLst/>
          </a:prstGeom>
          <a:solidFill>
            <a:srgbClr val="06B6D4">
              <a:alpha val="7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3" name="Text 71"/>
          <p:cNvSpPr/>
          <p:nvPr/>
        </p:nvSpPr>
        <p:spPr>
          <a:xfrm>
            <a:off x="9006840" y="44805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MLJ today  ·  the friction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8842248" y="4846320"/>
            <a:ext cx="73152" cy="73152"/>
          </a:xfrm>
          <a:prstGeom prst="ellipse">
            <a:avLst/>
          </a:prstGeom>
          <a:solidFill>
            <a:srgbClr val="06B6D4">
              <a:alpha val="7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5" name="Text 73"/>
          <p:cNvSpPr/>
          <p:nvPr/>
        </p:nvSpPr>
        <p:spPr>
          <a:xfrm>
            <a:off x="9006840" y="477316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Fabric for MLJ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8842248" y="5138928"/>
            <a:ext cx="73152" cy="73152"/>
          </a:xfrm>
          <a:prstGeom prst="ellipse">
            <a:avLst/>
          </a:prstGeom>
          <a:solidFill>
            <a:srgbClr val="06B6D4">
              <a:alpha val="7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7" name="Text 75"/>
          <p:cNvSpPr/>
          <p:nvPr/>
        </p:nvSpPr>
        <p:spPr>
          <a:xfrm>
            <a:off x="9006840" y="506577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Layer-by-layer comparison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8842248" y="5431536"/>
            <a:ext cx="73152" cy="73152"/>
          </a:xfrm>
          <a:prstGeom prst="ellipse">
            <a:avLst/>
          </a:prstGeom>
          <a:solidFill>
            <a:srgbClr val="06B6D4">
              <a:alpha val="7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9" name="Text 77"/>
          <p:cNvSpPr/>
          <p:nvPr/>
        </p:nvSpPr>
        <p:spPr>
          <a:xfrm>
            <a:off x="9006840" y="53583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OneLake  +  Purview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8842248" y="5724144"/>
            <a:ext cx="73152" cy="73152"/>
          </a:xfrm>
          <a:prstGeom prst="ellipse">
            <a:avLst/>
          </a:prstGeom>
          <a:solidFill>
            <a:srgbClr val="06B6D4">
              <a:alpha val="7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1" name="Text 79"/>
          <p:cNvSpPr/>
          <p:nvPr/>
        </p:nvSpPr>
        <p:spPr>
          <a:xfrm>
            <a:off x="9006840" y="56509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Agent  +  Copilot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8842248" y="6016752"/>
            <a:ext cx="73152" cy="73152"/>
          </a:xfrm>
          <a:prstGeom prst="ellipse">
            <a:avLst/>
          </a:prstGeom>
          <a:solidFill>
            <a:srgbClr val="06B6D4">
              <a:alpha val="7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3" name="Text 81"/>
          <p:cNvSpPr/>
          <p:nvPr/>
        </p:nvSpPr>
        <p:spPr>
          <a:xfrm>
            <a:off x="9006840" y="59436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Migration phasing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 ×  Manulife Japan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46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MANULIFE JAPAN TODAY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architecture  ·  what works, where the friction is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711909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711909" cy="20116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7119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162046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05685" y="2395728"/>
            <a:ext cx="146304" cy="146304"/>
          </a:xfrm>
          <a:prstGeom prst="rtTriangl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2370277" y="1828800"/>
            <a:ext cx="1711909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2370277" y="1828800"/>
            <a:ext cx="1711909" cy="20116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2370277" y="1828800"/>
            <a:ext cx="17119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89578" y="2121408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3789578" y="2121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15997" y="2103120"/>
            <a:ext cx="162046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8762" y="2395728"/>
            <a:ext cx="146304" cy="146304"/>
          </a:xfrm>
          <a:prstGeom prst="rtTriangl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4283354" y="1828800"/>
            <a:ext cx="1711909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4283354" y="1828800"/>
            <a:ext cx="1711909" cy="20116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4283354" y="1828800"/>
            <a:ext cx="17119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702656" y="2121408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5702656" y="2121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29074" y="2103120"/>
            <a:ext cx="162046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EDL  /  Publish DB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1840" y="2395728"/>
            <a:ext cx="146304" cy="146304"/>
          </a:xfrm>
          <a:prstGeom prst="rtTriangl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6196432" y="1828800"/>
            <a:ext cx="1711909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6196432" y="1828800"/>
            <a:ext cx="1711909" cy="20116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6196432" y="1828800"/>
            <a:ext cx="17119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615733" y="2121408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7615733" y="2121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42152" y="2103120"/>
            <a:ext cx="162046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 +  Databricks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44917" y="2395728"/>
            <a:ext cx="146304" cy="146304"/>
          </a:xfrm>
          <a:prstGeom prst="rtTriangl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3" name="Shape 31"/>
          <p:cNvSpPr/>
          <p:nvPr/>
        </p:nvSpPr>
        <p:spPr>
          <a:xfrm>
            <a:off x="8109509" y="1828800"/>
            <a:ext cx="1711909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Shape 32"/>
          <p:cNvSpPr/>
          <p:nvPr/>
        </p:nvSpPr>
        <p:spPr>
          <a:xfrm>
            <a:off x="8109509" y="1828800"/>
            <a:ext cx="1711909" cy="20116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8109509" y="1828800"/>
            <a:ext cx="17119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155229" y="2103120"/>
            <a:ext cx="162046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Marts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857994" y="2395728"/>
            <a:ext cx="146304" cy="146304"/>
          </a:xfrm>
          <a:prstGeom prst="rtTriangl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8" name="Shape 36"/>
          <p:cNvSpPr/>
          <p:nvPr/>
        </p:nvSpPr>
        <p:spPr>
          <a:xfrm>
            <a:off x="10022586" y="1828800"/>
            <a:ext cx="1711909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9" name="Shape 37"/>
          <p:cNvSpPr/>
          <p:nvPr/>
        </p:nvSpPr>
        <p:spPr>
          <a:xfrm>
            <a:off x="10022586" y="1828800"/>
            <a:ext cx="1711909" cy="20116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10022586" y="1828800"/>
            <a:ext cx="17119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441887" y="2121408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2" name="Text 40"/>
          <p:cNvSpPr/>
          <p:nvPr/>
        </p:nvSpPr>
        <p:spPr>
          <a:xfrm>
            <a:off x="11441887" y="2121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068306" y="2103120"/>
            <a:ext cx="162046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32461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hops  ·  3 governance stacks  ·  refresh windows in BI  ·  separate doc + tabular paths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023360"/>
            <a:ext cx="550148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6" name="Shape 44"/>
          <p:cNvSpPr/>
          <p:nvPr/>
        </p:nvSpPr>
        <p:spPr>
          <a:xfrm>
            <a:off x="457200" y="4023360"/>
            <a:ext cx="91440" cy="22860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7" name="Text 45"/>
          <p:cNvSpPr/>
          <p:nvPr/>
        </p:nvSpPr>
        <p:spPr>
          <a:xfrm>
            <a:off x="731520" y="4160520"/>
            <a:ext cx="513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 WORKS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31520" y="4544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51560" y="4526280"/>
            <a:ext cx="481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Domain-driven model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051560" y="4773168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Distributor / Product / Finance / System — clean ownership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31520" y="5111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51560" y="5093208"/>
            <a:ext cx="481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formats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051560" y="5340096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tables + Parquet under Databricks; portable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31520" y="5678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51560" y="5660136"/>
            <a:ext cx="481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footprint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051560" y="5907024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governance scope within Databricks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233008" y="4023360"/>
            <a:ext cx="550148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8" name="Shape 56"/>
          <p:cNvSpPr/>
          <p:nvPr/>
        </p:nvSpPr>
        <p:spPr>
          <a:xfrm>
            <a:off x="6233008" y="4023360"/>
            <a:ext cx="91440" cy="22860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9" name="Text 57"/>
          <p:cNvSpPr/>
          <p:nvPr/>
        </p:nvSpPr>
        <p:spPr>
          <a:xfrm>
            <a:off x="6507328" y="4160520"/>
            <a:ext cx="513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 POINTS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507328" y="4544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827368" y="4526280"/>
            <a:ext cx="481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governance stacks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827368" y="4773168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+ Cosmos RBAC + PBI workspace ACLs = 3 audit surfaces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507328" y="5111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6827368" y="5093208"/>
            <a:ext cx="481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+ tabular separated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6827368" y="5340096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isolated from tabular layer — bespoke glue for every RAG case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507328" y="5678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6827368" y="5660136"/>
            <a:ext cx="481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imports + refresh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6827368" y="5907024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windows, dataset size limits, stale dashboards in business hours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 ×  Manulife Japan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46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FABRIC FOR MLJ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reasons the 2026 refresh lands here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637178" cy="214884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637178" cy="7315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4884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179978" y="2011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31520" y="269748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copy of data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310896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 replaces EDL + Cosmos + flattened-tables shuffle. Every workload reads the same Delta bytes — no Gobblin copy jobs.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77258" y="1828800"/>
            <a:ext cx="3637178" cy="214884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2"/>
          <p:cNvSpPr/>
          <p:nvPr/>
        </p:nvSpPr>
        <p:spPr>
          <a:xfrm>
            <a:off x="4277258" y="1828800"/>
            <a:ext cx="3637178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Shape 13"/>
          <p:cNvSpPr/>
          <p:nvPr/>
        </p:nvSpPr>
        <p:spPr>
          <a:xfrm>
            <a:off x="4551578" y="205740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018" y="214884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00037" y="2011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4551578" y="269748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ownership preserved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551578" y="310896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 + lakehouses + Delta schemas map cleanly onto your 5 domains. Each team owns their data; platform stays unified.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8097317" y="1828800"/>
            <a:ext cx="3637178" cy="214884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2" name="Shape 18"/>
          <p:cNvSpPr/>
          <p:nvPr/>
        </p:nvSpPr>
        <p:spPr>
          <a:xfrm>
            <a:off x="8097317" y="1828800"/>
            <a:ext cx="3637178" cy="73152"/>
          </a:xfrm>
          <a:prstGeom prst="rect">
            <a:avLst/>
          </a:prstGeom>
          <a:solidFill>
            <a:srgbClr val="74277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Shape 19"/>
          <p:cNvSpPr/>
          <p:nvPr/>
        </p:nvSpPr>
        <p:spPr>
          <a:xfrm>
            <a:off x="8371637" y="2057400"/>
            <a:ext cx="502920" cy="502920"/>
          </a:xfrm>
          <a:prstGeom prst="ellipse">
            <a:avLst/>
          </a:prstGeom>
          <a:solidFill>
            <a:srgbClr val="742774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077" y="2148840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820095" y="2011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6" name="Text 21"/>
          <p:cNvSpPr/>
          <p:nvPr/>
        </p:nvSpPr>
        <p:spPr>
          <a:xfrm>
            <a:off x="8371637" y="269748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refresh, solved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371637" y="310896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 security + Purview gives you the 2026 step you've already planned — without porting UC policies to a third tool.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57200" y="4160520"/>
            <a:ext cx="3637178" cy="214884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9" name="Shape 24"/>
          <p:cNvSpPr/>
          <p:nvPr/>
        </p:nvSpPr>
        <p:spPr>
          <a:xfrm>
            <a:off x="457200" y="4160520"/>
            <a:ext cx="3637178" cy="73152"/>
          </a:xfrm>
          <a:prstGeom prst="rect">
            <a:avLst/>
          </a:prstGeom>
          <a:solidFill>
            <a:srgbClr val="00A75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Shape 25"/>
          <p:cNvSpPr/>
          <p:nvPr/>
        </p:nvSpPr>
        <p:spPr>
          <a:xfrm>
            <a:off x="731520" y="4389120"/>
            <a:ext cx="502920" cy="502920"/>
          </a:xfrm>
          <a:prstGeom prst="ellipse">
            <a:avLst/>
          </a:prstGeom>
          <a:solidFill>
            <a:srgbClr val="00A758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480560"/>
            <a:ext cx="320040" cy="32004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3179978" y="4343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00A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33" name="Text 27"/>
          <p:cNvSpPr/>
          <p:nvPr/>
        </p:nvSpPr>
        <p:spPr>
          <a:xfrm>
            <a:off x="731520" y="502920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self-service, native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731520" y="544068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Agent (NL → DAX/SQL/RAG) + Copilot deliver the AI box on your 2026 roadmap, wired to the governed semantic model.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4277258" y="4160520"/>
            <a:ext cx="3637178" cy="214884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6" name="Shape 30"/>
          <p:cNvSpPr/>
          <p:nvPr/>
        </p:nvSpPr>
        <p:spPr>
          <a:xfrm>
            <a:off x="4277258" y="4160520"/>
            <a:ext cx="3637178" cy="73152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7" name="Shape 31"/>
          <p:cNvSpPr/>
          <p:nvPr/>
        </p:nvSpPr>
        <p:spPr>
          <a:xfrm>
            <a:off x="4551578" y="438912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3018" y="4480560"/>
            <a:ext cx="320040" cy="32004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000037" y="4343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40" name="Text 33"/>
          <p:cNvSpPr/>
          <p:nvPr/>
        </p:nvSpPr>
        <p:spPr>
          <a:xfrm>
            <a:off x="4551578" y="502920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run cost &amp; ops surface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4551578" y="544068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F-SKU covers ingest, transform, warehouse, BI, AI. Retire ADF, DBU $/hr, Cosmos RU. One pausable bill.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8097317" y="4160520"/>
            <a:ext cx="3637178" cy="214884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3" name="Shape 36"/>
          <p:cNvSpPr/>
          <p:nvPr/>
        </p:nvSpPr>
        <p:spPr>
          <a:xfrm>
            <a:off x="8097317" y="4160520"/>
            <a:ext cx="3637178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4" name="Shape 37"/>
          <p:cNvSpPr/>
          <p:nvPr/>
        </p:nvSpPr>
        <p:spPr>
          <a:xfrm>
            <a:off x="8371637" y="438912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3077" y="4480560"/>
            <a:ext cx="320040" cy="32004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0820095" y="4343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47" name="Text 39"/>
          <p:cNvSpPr/>
          <p:nvPr/>
        </p:nvSpPr>
        <p:spPr>
          <a:xfrm>
            <a:off x="8371637" y="502920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 &amp;  non-locking</a:t>
            </a:r>
            <a:endParaRPr lang="en-US" sz="1400" dirty="0"/>
          </a:p>
        </p:txBody>
      </p:sp>
      <p:sp>
        <p:nvSpPr>
          <p:cNvPr id="48" name="Text 40"/>
          <p:cNvSpPr/>
          <p:nvPr/>
        </p:nvSpPr>
        <p:spPr>
          <a:xfrm>
            <a:off x="8371637" y="544068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+ Parquet on ADLS Gen2 underneath. Mirroring + Shortcuts mean Cosmos and Databricks tables appear without copy.</a:t>
            </a: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domain model.  One platform underneath.  Governance and AI included.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 ×  Manulife Japan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46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stack vs Fabric  ·  layer-by-layer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691640" cy="411480"/>
          </a:xfrm>
          <a:prstGeom prst="rect">
            <a:avLst/>
          </a:prstGeom>
          <a:solidFill>
            <a:srgbClr val="0F172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1828800"/>
            <a:ext cx="320040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2331720" y="1828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 (MLJ today)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49240" y="1828800"/>
            <a:ext cx="3200400" cy="4114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5532120" y="1828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 EQUIVALENT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49640" y="1828800"/>
            <a:ext cx="3246120" cy="411480"/>
          </a:xfrm>
          <a:prstGeom prst="rect">
            <a:avLst/>
          </a:prstGeom>
          <a:solidFill>
            <a:srgbClr val="1A234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8732520" y="1828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IT'S  BETTER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11338560" cy="431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640080" y="2240280"/>
            <a:ext cx="141732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ingest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31720" y="2240280"/>
            <a:ext cx="283464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ADF + Databricks notebooks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66360" y="2401316"/>
            <a:ext cx="128016" cy="109728"/>
          </a:xfrm>
          <a:prstGeom prst="rtTriangl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5532120" y="2240280"/>
            <a:ext cx="29260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Pipelines + Mirroring + Shortcuts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32520" y="2240280"/>
            <a:ext cx="2971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Zero-code Mirror; one tool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672080"/>
            <a:ext cx="11338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457200" y="2672080"/>
            <a:ext cx="11338560" cy="4318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640080" y="2672080"/>
            <a:ext cx="141732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31720" y="2672080"/>
            <a:ext cx="283464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 DB (relational copy)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66360" y="2833116"/>
            <a:ext cx="128016" cy="109728"/>
          </a:xfrm>
          <a:prstGeom prst="rtTriangl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5532120" y="2672080"/>
            <a:ext cx="29260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OneLake bronze  (open Delta)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32520" y="2672080"/>
            <a:ext cx="2971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publish-DB serialisation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103880"/>
            <a:ext cx="11338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Shape 27"/>
          <p:cNvSpPr/>
          <p:nvPr/>
        </p:nvSpPr>
        <p:spPr>
          <a:xfrm>
            <a:off x="457200" y="3103880"/>
            <a:ext cx="11338560" cy="431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640080" y="3103880"/>
            <a:ext cx="141732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data (Cosmos)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31720" y="3103880"/>
            <a:ext cx="283464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 DB per domain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66360" y="3264916"/>
            <a:ext cx="128016" cy="109728"/>
          </a:xfrm>
          <a:prstGeom prst="rtTriangl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5532120" y="3103880"/>
            <a:ext cx="29260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Mirrored Cosmos  +  AI Search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732520" y="3103880"/>
            <a:ext cx="2971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Cosmos, queryable as Delta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535680"/>
            <a:ext cx="11338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Shape 34"/>
          <p:cNvSpPr/>
          <p:nvPr/>
        </p:nvSpPr>
        <p:spPr>
          <a:xfrm>
            <a:off x="457200" y="3535680"/>
            <a:ext cx="11338560" cy="4318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7" name="Text 35"/>
          <p:cNvSpPr/>
          <p:nvPr/>
        </p:nvSpPr>
        <p:spPr>
          <a:xfrm>
            <a:off x="640080" y="3535680"/>
            <a:ext cx="141732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per domain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331720" y="3535680"/>
            <a:ext cx="283464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Flattened tables, Databricks SQL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66360" y="3696716"/>
            <a:ext cx="128016" cy="109728"/>
          </a:xfrm>
          <a:prstGeom prst="rtTriangl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5532120" y="3535680"/>
            <a:ext cx="29260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Lakehouse schemas  ·  DirectLake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732520" y="3535680"/>
            <a:ext cx="2971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import, no refresh window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3967480"/>
            <a:ext cx="11338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3" name="Shape 41"/>
          <p:cNvSpPr/>
          <p:nvPr/>
        </p:nvSpPr>
        <p:spPr>
          <a:xfrm>
            <a:off x="457200" y="3967480"/>
            <a:ext cx="11338560" cy="431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4" name="Text 42"/>
          <p:cNvSpPr/>
          <p:nvPr/>
        </p:nvSpPr>
        <p:spPr>
          <a:xfrm>
            <a:off x="640080" y="3967480"/>
            <a:ext cx="141732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marts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331720" y="3967480"/>
            <a:ext cx="283464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Griffin / AML / IFRS / CDP / VOICE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166360" y="4128516"/>
            <a:ext cx="128016" cy="109728"/>
          </a:xfrm>
          <a:prstGeom prst="rtTriangl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7" name="Text 45"/>
          <p:cNvSpPr/>
          <p:nvPr/>
        </p:nvSpPr>
        <p:spPr>
          <a:xfrm>
            <a:off x="5532120" y="3967480"/>
            <a:ext cx="29260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Warehouses + semantic models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732520" y="3967480"/>
            <a:ext cx="2971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measures, reused everywhere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4399280"/>
            <a:ext cx="11338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0" name="Shape 48"/>
          <p:cNvSpPr/>
          <p:nvPr/>
        </p:nvSpPr>
        <p:spPr>
          <a:xfrm>
            <a:off x="457200" y="4399280"/>
            <a:ext cx="11338560" cy="4318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1" name="Text 49"/>
          <p:cNvSpPr/>
          <p:nvPr/>
        </p:nvSpPr>
        <p:spPr>
          <a:xfrm>
            <a:off x="640080" y="4399280"/>
            <a:ext cx="141732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331720" y="4399280"/>
            <a:ext cx="283464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Unity Catalog  (refresh 2026)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166360" y="4560316"/>
            <a:ext cx="128016" cy="109728"/>
          </a:xfrm>
          <a:prstGeom prst="rtTriangl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4" name="Text 52"/>
          <p:cNvSpPr/>
          <p:nvPr/>
        </p:nvSpPr>
        <p:spPr>
          <a:xfrm>
            <a:off x="5532120" y="4399280"/>
            <a:ext cx="29260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OneLake security + Purview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732520" y="4399280"/>
            <a:ext cx="2971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refresh, already integrated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" y="4831080"/>
            <a:ext cx="11338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7" name="Shape 55"/>
          <p:cNvSpPr/>
          <p:nvPr/>
        </p:nvSpPr>
        <p:spPr>
          <a:xfrm>
            <a:off x="457200" y="4831080"/>
            <a:ext cx="11338560" cy="431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8" name="Text 56"/>
          <p:cNvSpPr/>
          <p:nvPr/>
        </p:nvSpPr>
        <p:spPr>
          <a:xfrm>
            <a:off x="640080" y="4831080"/>
            <a:ext cx="141732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331720" y="4831080"/>
            <a:ext cx="283464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 BI on Databricks SQL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166360" y="4992116"/>
            <a:ext cx="128016" cy="109728"/>
          </a:xfrm>
          <a:prstGeom prst="rtTriangl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1" name="Text 59"/>
          <p:cNvSpPr/>
          <p:nvPr/>
        </p:nvSpPr>
        <p:spPr>
          <a:xfrm>
            <a:off x="5532120" y="4831080"/>
            <a:ext cx="29260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 BI on DirectLake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732520" y="4831080"/>
            <a:ext cx="2971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queries, no refresh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5262880"/>
            <a:ext cx="11338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4" name="Shape 62"/>
          <p:cNvSpPr/>
          <p:nvPr/>
        </p:nvSpPr>
        <p:spPr>
          <a:xfrm>
            <a:off x="457200" y="5262880"/>
            <a:ext cx="11338560" cy="4318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5" name="Text 63"/>
          <p:cNvSpPr/>
          <p:nvPr/>
        </p:nvSpPr>
        <p:spPr>
          <a:xfrm>
            <a:off x="640080" y="5262880"/>
            <a:ext cx="141732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self-service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331720" y="5262880"/>
            <a:ext cx="283464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Planned for 2026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166360" y="5423916"/>
            <a:ext cx="128016" cy="109728"/>
          </a:xfrm>
          <a:prstGeom prst="rtTriangl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8" name="Text 66"/>
          <p:cNvSpPr/>
          <p:nvPr/>
        </p:nvSpPr>
        <p:spPr>
          <a:xfrm>
            <a:off x="5532120" y="5262880"/>
            <a:ext cx="29260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 Data Agent + Copilot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732520" y="5262880"/>
            <a:ext cx="2971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the box you've drawn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57200" y="5694680"/>
            <a:ext cx="11338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1" name="Shape 69"/>
          <p:cNvSpPr/>
          <p:nvPr/>
        </p:nvSpPr>
        <p:spPr>
          <a:xfrm>
            <a:off x="457200" y="5694680"/>
            <a:ext cx="11338560" cy="431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2" name="Text 70"/>
          <p:cNvSpPr/>
          <p:nvPr/>
        </p:nvSpPr>
        <p:spPr>
          <a:xfrm>
            <a:off x="640080" y="5694680"/>
            <a:ext cx="141732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SKU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2331720" y="5694680"/>
            <a:ext cx="283464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DBU $/hr + ADF IR + RU + PBI Pro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166360" y="5855716"/>
            <a:ext cx="128016" cy="109728"/>
          </a:xfrm>
          <a:prstGeom prst="rtTriangl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5" name="Text 73"/>
          <p:cNvSpPr/>
          <p:nvPr/>
        </p:nvSpPr>
        <p:spPr>
          <a:xfrm>
            <a:off x="5532120" y="5694680"/>
            <a:ext cx="29260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pausable F-SKU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732520" y="5694680"/>
            <a:ext cx="2971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bill, smoothed bursts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457200" y="617220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domains and marts  ·  one platform underneath  ·  no breaking changes to consumers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 ×  Manulife Japan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46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for MLJ  ·  same domains, one platform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45920" y="1783080"/>
            <a:ext cx="8321040" cy="475488"/>
          </a:xfrm>
          <a:prstGeom prst="rect">
            <a:avLst/>
          </a:prstGeom>
          <a:solidFill>
            <a:srgbClr val="0F1729"/>
          </a:solidFill>
          <a:ln/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1874520" y="178308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  ·  Apps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17830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 BI  ·  Data Agent (JP / EN)  ·  Copilot  ·  APIs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69864" y="2258568"/>
            <a:ext cx="73152" cy="9144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57200" y="235000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+ AI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45920" y="2350008"/>
            <a:ext cx="8321040" cy="475488"/>
          </a:xfrm>
          <a:prstGeom prst="rect">
            <a:avLst/>
          </a:prstGeom>
          <a:solidFill>
            <a:srgbClr val="742774"/>
          </a:solidFill>
          <a:ln/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1874520" y="235000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Lake Semantic Model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235000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JPY measures  ·  Total Premium · AUM · Claims Ratio · Approval Rate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69864" y="2825496"/>
            <a:ext cx="73152" cy="9144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457200" y="2916936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45920" y="2916936"/>
            <a:ext cx="1591056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1645920" y="2916936"/>
            <a:ext cx="1591056" cy="29260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1645920" y="294436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45920" y="328269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  +  Gold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45920" y="348386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28416" y="2916936"/>
            <a:ext cx="1591056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3328416" y="2916936"/>
            <a:ext cx="1591056" cy="2926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3328416" y="294436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28416" y="328269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  +  Gold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28416" y="348386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10912" y="2916936"/>
            <a:ext cx="1591056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742774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9" name="Shape 27"/>
          <p:cNvSpPr/>
          <p:nvPr/>
        </p:nvSpPr>
        <p:spPr>
          <a:xfrm>
            <a:off x="5010912" y="2916936"/>
            <a:ext cx="1591056" cy="292608"/>
          </a:xfrm>
          <a:prstGeom prst="rect">
            <a:avLst/>
          </a:prstGeom>
          <a:solidFill>
            <a:srgbClr val="74277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5010912" y="294436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10912" y="328269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  +  Gold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10912" y="348386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93408" y="2916936"/>
            <a:ext cx="1591056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4" name="Shape 32"/>
          <p:cNvSpPr/>
          <p:nvPr/>
        </p:nvSpPr>
        <p:spPr>
          <a:xfrm>
            <a:off x="6693408" y="2916936"/>
            <a:ext cx="1591056" cy="292608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6693408" y="294436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93408" y="328269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  +  Gold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93408" y="348386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375904" y="2916936"/>
            <a:ext cx="1591056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9" name="Shape 37"/>
          <p:cNvSpPr/>
          <p:nvPr/>
        </p:nvSpPr>
        <p:spPr>
          <a:xfrm>
            <a:off x="8375904" y="2916936"/>
            <a:ext cx="1591056" cy="29260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8375904" y="294436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375904" y="328269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  +  Gold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375904" y="348386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769864" y="3785616"/>
            <a:ext cx="73152" cy="9144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4" name="Text 42"/>
          <p:cNvSpPr/>
          <p:nvPr/>
        </p:nvSpPr>
        <p:spPr>
          <a:xfrm>
            <a:off x="457200" y="3877056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645920" y="3877056"/>
            <a:ext cx="8321040" cy="475488"/>
          </a:xfrm>
          <a:prstGeom prst="rect">
            <a:avLst/>
          </a:prstGeom>
          <a:solidFill>
            <a:srgbClr val="0891B2"/>
          </a:solidFill>
          <a:ln/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6" name="Text 44"/>
          <p:cNvSpPr/>
          <p:nvPr/>
        </p:nvSpPr>
        <p:spPr>
          <a:xfrm>
            <a:off x="1874520" y="387705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  ·  Bronze + Docs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120640" y="3877056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Delta · Mirrored Cosmos · Mirrored SQL · AI Search index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769864" y="4352544"/>
            <a:ext cx="73152" cy="9144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9" name="Text 47"/>
          <p:cNvSpPr/>
          <p:nvPr/>
        </p:nvSpPr>
        <p:spPr>
          <a:xfrm>
            <a:off x="457200" y="4443984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645920" y="4443984"/>
            <a:ext cx="8321040" cy="475488"/>
          </a:xfrm>
          <a:prstGeom prst="rect">
            <a:avLst/>
          </a:prstGeom>
          <a:solidFill>
            <a:srgbClr val="0078D4"/>
          </a:solidFill>
          <a:ln/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1" name="Text 49"/>
          <p:cNvSpPr/>
          <p:nvPr/>
        </p:nvSpPr>
        <p:spPr>
          <a:xfrm>
            <a:off x="1874520" y="444398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Pipelines  +  Mirroring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120640" y="4443984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replaces ADF  ·  zero-code Mirror for Cosmos / SQL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769864" y="4919472"/>
            <a:ext cx="73152" cy="9144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4" name="Text 52"/>
          <p:cNvSpPr/>
          <p:nvPr/>
        </p:nvSpPr>
        <p:spPr>
          <a:xfrm>
            <a:off x="457200" y="5010912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645920" y="5010912"/>
            <a:ext cx="8321040" cy="47548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6" name="Text 54"/>
          <p:cNvSpPr/>
          <p:nvPr/>
        </p:nvSpPr>
        <p:spPr>
          <a:xfrm>
            <a:off x="1874520" y="501091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  (6 — unchanged)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120640" y="501091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Illustration · Underwriting · Policy Hosting · Policy Servicing · Customer · Distributor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0104120" y="1783080"/>
            <a:ext cx="1627632" cy="3703320"/>
          </a:xfrm>
          <a:prstGeom prst="rect">
            <a:avLst/>
          </a:prstGeom>
          <a:solidFill>
            <a:srgbClr val="0F1729"/>
          </a:solidFill>
          <a:ln/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9" name="Text 57"/>
          <p:cNvSpPr/>
          <p:nvPr/>
        </p:nvSpPr>
        <p:spPr>
          <a:xfrm>
            <a:off x="10104120" y="194767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0104120" y="2194560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cross-cutting  ·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0268712" y="2743200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2" name="Text 60"/>
          <p:cNvSpPr/>
          <p:nvPr/>
        </p:nvSpPr>
        <p:spPr>
          <a:xfrm>
            <a:off x="10415016" y="265176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 security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0268712" y="3282696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4" name="Text 62"/>
          <p:cNvSpPr/>
          <p:nvPr/>
        </p:nvSpPr>
        <p:spPr>
          <a:xfrm>
            <a:off x="10415016" y="319125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Purview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0268712" y="3822192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6" name="Text 64"/>
          <p:cNvSpPr/>
          <p:nvPr/>
        </p:nvSpPr>
        <p:spPr>
          <a:xfrm>
            <a:off x="10415016" y="373075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 (RBAC)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0268712" y="4361688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8" name="Text 66"/>
          <p:cNvSpPr/>
          <p:nvPr/>
        </p:nvSpPr>
        <p:spPr>
          <a:xfrm>
            <a:off x="10415016" y="427024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labels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0268712" y="4901184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0" name="Text 68"/>
          <p:cNvSpPr/>
          <p:nvPr/>
        </p:nvSpPr>
        <p:spPr>
          <a:xfrm>
            <a:off x="10415016" y="480974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lineage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5 domains  ·  one OneLake substrate  ·  one governance surface  ·  governance refresh delivered as a side-effect of platform consolidation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 ×  Manulife Japan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46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 REFRESH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 →  OneLake + Purview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181448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81448" cy="5029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731520" y="1901952"/>
            <a:ext cx="481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 (today)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075688"/>
            <a:ext cx="481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scope ends at Databricks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587752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914400" y="25420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743200"/>
            <a:ext cx="454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workspaces + Delta tables in UC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090672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914400" y="30449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246120"/>
            <a:ext cx="454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UC  ·  separate RBAC policies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593592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914400" y="35478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3749040"/>
            <a:ext cx="454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UC  ·  workspace ACLs separately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096512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914400" y="40507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4251960"/>
            <a:ext cx="454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inside DBX  ·  gaps at boundaries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599432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914400" y="45537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4754880"/>
            <a:ext cx="454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native  ·  needs Purview alongside anyway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5102352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914400" y="50566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surface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" y="5257800"/>
            <a:ext cx="454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places  ·  UC + Cosmos RBAC + PBI ACLs + Azure RBAC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5605272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914400" y="55595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grounding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" y="5760720"/>
            <a:ext cx="454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NL-to-SQL grounded on semantic layer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53048" y="1828800"/>
            <a:ext cx="5181448" cy="4434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3" name="Shape 31"/>
          <p:cNvSpPr/>
          <p:nvPr/>
        </p:nvSpPr>
        <p:spPr>
          <a:xfrm>
            <a:off x="6553048" y="1828800"/>
            <a:ext cx="5181448" cy="5029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6827368" y="1901952"/>
            <a:ext cx="481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  +  PURVIEW  (target)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27368" y="2075688"/>
            <a:ext cx="481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covers everything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827368" y="2587752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7" name="Text 35"/>
          <p:cNvSpPr/>
          <p:nvPr/>
        </p:nvSpPr>
        <p:spPr>
          <a:xfrm>
            <a:off x="7010248" y="25420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10248" y="2743200"/>
            <a:ext cx="454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 + Mirrored sources + PBI + Data Agents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27368" y="3090672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7010248" y="30449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010248" y="3246120"/>
            <a:ext cx="454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Mirrored into OneLake  ·  inherits policies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27368" y="3593592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3" name="Text 41"/>
          <p:cNvSpPr/>
          <p:nvPr/>
        </p:nvSpPr>
        <p:spPr>
          <a:xfrm>
            <a:off x="7010248" y="35478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10248" y="3749040"/>
            <a:ext cx="454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registered in Purview  ·  one access model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27368" y="4096512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6" name="Text 44"/>
          <p:cNvSpPr/>
          <p:nvPr/>
        </p:nvSpPr>
        <p:spPr>
          <a:xfrm>
            <a:off x="7010248" y="40507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010248" y="4251960"/>
            <a:ext cx="454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from source mirror to PBI report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27368" y="4599432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9" name="Text 47"/>
          <p:cNvSpPr/>
          <p:nvPr/>
        </p:nvSpPr>
        <p:spPr>
          <a:xfrm>
            <a:off x="7010248" y="45537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010248" y="4754880"/>
            <a:ext cx="454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labels + DLP  ·  propagate to consumers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27368" y="5102352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2" name="Text 50"/>
          <p:cNvSpPr/>
          <p:nvPr/>
        </p:nvSpPr>
        <p:spPr>
          <a:xfrm>
            <a:off x="7010248" y="50566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surface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010248" y="5257800"/>
            <a:ext cx="454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place  ·  Purview unified across Fabric + Azure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827368" y="5605272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5" name="Text 53"/>
          <p:cNvSpPr/>
          <p:nvPr/>
        </p:nvSpPr>
        <p:spPr>
          <a:xfrm>
            <a:off x="7010248" y="55595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grounding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010248" y="5760720"/>
            <a:ext cx="454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 ·  Data Agent grounded on semantic model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684368" y="3589020"/>
            <a:ext cx="822960" cy="914400"/>
          </a:xfrm>
          <a:prstGeom prst="rect">
            <a:avLst/>
          </a:prstGeom>
          <a:solidFill>
            <a:srgbClr val="0F1729"/>
          </a:solidFill>
          <a:ln/>
          <a:effectLst>
            <a:outerShdw blurRad="1524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8" name="Text 56"/>
          <p:cNvSpPr/>
          <p:nvPr/>
        </p:nvSpPr>
        <p:spPr>
          <a:xfrm>
            <a:off x="5638648" y="3680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 2026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638648" y="38633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638648" y="41376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 ×  Manulife Japan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46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SELF-SERVICE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2026 AI box  ·  available today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5852160" cy="416052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5852160" cy="73152"/>
          </a:xfrm>
          <a:prstGeom prst="rect">
            <a:avLst/>
          </a:prstGeom>
          <a:solidFill>
            <a:srgbClr val="74277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731520" y="20391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IT  WORKS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 in 4 steps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697480"/>
            <a:ext cx="502920" cy="502920"/>
          </a:xfrm>
          <a:prstGeom prst="ellipse">
            <a:avLst/>
          </a:prstGeom>
          <a:solidFill>
            <a:srgbClr val="74277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2715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 asks in JP / 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2990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question via Copilot chat or Data Agent panel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9264" y="3200400"/>
            <a:ext cx="27432" cy="365760"/>
          </a:xfrm>
          <a:prstGeom prst="rect">
            <a:avLst/>
          </a:prstGeom>
          <a:solidFill>
            <a:srgbClr val="742774">
              <a:alpha val="4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502920" cy="502920"/>
          </a:xfrm>
          <a:prstGeom prst="ellipse">
            <a:avLst/>
          </a:prstGeom>
          <a:solidFill>
            <a:srgbClr val="74277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73152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35844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Agent grounds the request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3858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to: semantic model · lakehouse · AI Search index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9264" y="4069080"/>
            <a:ext cx="27432" cy="365760"/>
          </a:xfrm>
          <a:prstGeom prst="rect">
            <a:avLst/>
          </a:prstGeom>
          <a:solidFill>
            <a:srgbClr val="742774">
              <a:alpha val="4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731520" y="4434840"/>
            <a:ext cx="502920" cy="502920"/>
          </a:xfrm>
          <a:prstGeom prst="ellipse">
            <a:avLst/>
          </a:prstGeom>
          <a:solidFill>
            <a:srgbClr val="74277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73152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44531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retrieval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71600" y="47274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measures only · governed by OneLake security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69264" y="4937760"/>
            <a:ext cx="27432" cy="365760"/>
          </a:xfrm>
          <a:prstGeom prst="rect">
            <a:avLst/>
          </a:prstGeom>
          <a:solidFill>
            <a:srgbClr val="742774">
              <a:alpha val="4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731520" y="5303520"/>
            <a:ext cx="502920" cy="502920"/>
          </a:xfrm>
          <a:prstGeom prst="ellipse">
            <a:avLst/>
          </a:prstGeom>
          <a:solidFill>
            <a:srgbClr val="74277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73152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71600" y="53218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citations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71600" y="55961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or document source attached to every claim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1874520"/>
            <a:ext cx="5242255" cy="4160520"/>
          </a:xfrm>
          <a:prstGeom prst="rect">
            <a:avLst/>
          </a:prstGeom>
          <a:solidFill>
            <a:srgbClr val="0F1729"/>
          </a:solidFill>
          <a:ln/>
          <a:effectLst>
            <a:outerShdw blurRad="1524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1" name="Shape 29"/>
          <p:cNvSpPr/>
          <p:nvPr/>
        </p:nvSpPr>
        <p:spPr>
          <a:xfrm>
            <a:off x="6720840" y="207568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2" name="Shape 30"/>
          <p:cNvSpPr/>
          <p:nvPr/>
        </p:nvSpPr>
        <p:spPr>
          <a:xfrm>
            <a:off x="6922008" y="207568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3" name="Shape 31"/>
          <p:cNvSpPr/>
          <p:nvPr/>
        </p:nvSpPr>
        <p:spPr>
          <a:xfrm>
            <a:off x="7123176" y="207568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7406640" y="2011680"/>
            <a:ext cx="4144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data-agent  ~  MLJ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66560" y="2514600"/>
            <a:ext cx="4785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0" y="2715768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"Top 10 advisors by AUM in Tokyo this quarter"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66560" y="301752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measure: [Total AUM]   slice: dim_advisor.prefecture = 'Tokyo'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66560" y="3355848"/>
            <a:ext cx="4693615" cy="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9" name="Text 37"/>
          <p:cNvSpPr/>
          <p:nvPr/>
        </p:nvSpPr>
        <p:spPr>
          <a:xfrm>
            <a:off x="6766560" y="3429000"/>
            <a:ext cx="4785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0" y="3630168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"Declined applications by reason, last 90 days"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66560" y="393192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measure: [Declined Count]   slice: reason · time window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66560" y="4270248"/>
            <a:ext cx="4693615" cy="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3" name="Text 41"/>
          <p:cNvSpPr/>
          <p:nvPr/>
        </p:nvSpPr>
        <p:spPr>
          <a:xfrm>
            <a:off x="6766560" y="4343400"/>
            <a:ext cx="4785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766560" y="4544568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"IFRS 17 CSM run-off by product"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66560" y="484632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measure: [CSM Run-off]   slice: dim_product.line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766560" y="5184648"/>
            <a:ext cx="4693615" cy="0"/>
          </a:xfrm>
          <a:prstGeom prst="line">
            <a:avLst/>
          </a:prstGeom>
          <a:noFill/>
          <a:ln w="635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7" name="Text 45"/>
          <p:cNvSpPr/>
          <p:nvPr/>
        </p:nvSpPr>
        <p:spPr>
          <a:xfrm>
            <a:off x="6766560" y="5257800"/>
            <a:ext cx="4785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766560" y="5458968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does the policy say about disability rider?"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766560" y="576072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RAG → policy_terms.pdf   citations attached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solidFill>
            <a:srgbClr val="1A234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1" name="Text 49"/>
          <p:cNvSpPr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Japanese-language ready  ·  inherits OneLake security  ·  every answer cites the source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 ×  Manulife Japan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46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 MAPPING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MLJ domains  ·  workspaces, lakehouses, marts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145731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145731" cy="5486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21457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17799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2715768"/>
            <a:ext cx="17799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System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916936"/>
            <a:ext cx="17799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Illustration &amp; App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566160"/>
            <a:ext cx="91440" cy="91440"/>
          </a:xfrm>
          <a:prstGeom prst="ellipse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777240" y="3520440"/>
            <a:ext cx="16885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17799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Policies, applications, contacts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91440" cy="91440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777240" y="4846320"/>
            <a:ext cx="16885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 CURATED  MARTS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1779971" cy="292608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640080" y="5120640"/>
            <a:ext cx="17799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779971" cy="292608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640080" y="5486400"/>
            <a:ext cx="17799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CAR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0091" y="1828800"/>
            <a:ext cx="2145731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2740091" y="1828800"/>
            <a:ext cx="2145731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2740091" y="1993392"/>
            <a:ext cx="21457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922971" y="2514600"/>
            <a:ext cx="17799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922971" y="2715768"/>
            <a:ext cx="17799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Distributor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922971" y="3566160"/>
            <a:ext cx="91440" cy="91440"/>
          </a:xfrm>
          <a:prstGeom prst="ellipse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3060131" y="3520440"/>
            <a:ext cx="16885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922971" y="3749040"/>
            <a:ext cx="17799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Advisors, agencies, performance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22971" y="4892040"/>
            <a:ext cx="91440" cy="91440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3060131" y="4846320"/>
            <a:ext cx="16885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 CURATED  MARTS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922971" y="5120640"/>
            <a:ext cx="1779971" cy="292608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2922971" y="5120640"/>
            <a:ext cx="17799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360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2982" y="1828800"/>
            <a:ext cx="2145731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5" name="Shape 33"/>
          <p:cNvSpPr/>
          <p:nvPr/>
        </p:nvSpPr>
        <p:spPr>
          <a:xfrm>
            <a:off x="5022982" y="1828800"/>
            <a:ext cx="2145731" cy="548640"/>
          </a:xfrm>
          <a:prstGeom prst="rect">
            <a:avLst/>
          </a:prstGeom>
          <a:solidFill>
            <a:srgbClr val="74277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5022982" y="1993392"/>
            <a:ext cx="21457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205862" y="2514600"/>
            <a:ext cx="17799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05862" y="2715768"/>
            <a:ext cx="17799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Hosting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05862" y="2916936"/>
            <a:ext cx="17799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Master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205862" y="3566160"/>
            <a:ext cx="91440" cy="91440"/>
          </a:xfrm>
          <a:prstGeom prst="ellipse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1" name="Text 39"/>
          <p:cNvSpPr/>
          <p:nvPr/>
        </p:nvSpPr>
        <p:spPr>
          <a:xfrm>
            <a:off x="5343022" y="3520440"/>
            <a:ext cx="16885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205862" y="3749040"/>
            <a:ext cx="17799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catalogue, riders, illustrations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205862" y="4892040"/>
            <a:ext cx="91440" cy="91440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4" name="Text 42"/>
          <p:cNvSpPr/>
          <p:nvPr/>
        </p:nvSpPr>
        <p:spPr>
          <a:xfrm>
            <a:off x="5343022" y="4846320"/>
            <a:ext cx="16885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 CURATED  MARTS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205862" y="5120640"/>
            <a:ext cx="1779971" cy="292608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74277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6" name="Text 44"/>
          <p:cNvSpPr/>
          <p:nvPr/>
        </p:nvSpPr>
        <p:spPr>
          <a:xfrm>
            <a:off x="5205862" y="5120640"/>
            <a:ext cx="17799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P&amp;L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305873" y="1828800"/>
            <a:ext cx="2145731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8" name="Shape 46"/>
          <p:cNvSpPr/>
          <p:nvPr/>
        </p:nvSpPr>
        <p:spPr>
          <a:xfrm>
            <a:off x="7305873" y="1828800"/>
            <a:ext cx="2145731" cy="5486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9" name="Text 47"/>
          <p:cNvSpPr/>
          <p:nvPr/>
        </p:nvSpPr>
        <p:spPr>
          <a:xfrm>
            <a:off x="7305873" y="1993392"/>
            <a:ext cx="21457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7488753" y="2514600"/>
            <a:ext cx="17799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488753" y="2715768"/>
            <a:ext cx="17799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Servicing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488753" y="2916936"/>
            <a:ext cx="17799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 feeds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488753" y="3566160"/>
            <a:ext cx="91440" cy="91440"/>
          </a:xfrm>
          <a:prstGeom prst="ellipse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4" name="Text 52"/>
          <p:cNvSpPr/>
          <p:nvPr/>
        </p:nvSpPr>
        <p:spPr>
          <a:xfrm>
            <a:off x="7625913" y="3520440"/>
            <a:ext cx="16885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488753" y="3749040"/>
            <a:ext cx="17799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Premiums, claims, GL postings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488753" y="4892040"/>
            <a:ext cx="91440" cy="91440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7" name="Text 55"/>
          <p:cNvSpPr/>
          <p:nvPr/>
        </p:nvSpPr>
        <p:spPr>
          <a:xfrm>
            <a:off x="7625913" y="4846320"/>
            <a:ext cx="16885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 CURATED  MARTS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488753" y="5120640"/>
            <a:ext cx="1779971" cy="292608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9" name="Text 57"/>
          <p:cNvSpPr/>
          <p:nvPr/>
        </p:nvSpPr>
        <p:spPr>
          <a:xfrm>
            <a:off x="7488753" y="5120640"/>
            <a:ext cx="17799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17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488753" y="5486400"/>
            <a:ext cx="1779971" cy="292608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1" name="Text 59"/>
          <p:cNvSpPr/>
          <p:nvPr/>
        </p:nvSpPr>
        <p:spPr>
          <a:xfrm>
            <a:off x="7488753" y="5486400"/>
            <a:ext cx="17799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488753" y="5852160"/>
            <a:ext cx="1779971" cy="292608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3" name="Text 61"/>
          <p:cNvSpPr/>
          <p:nvPr/>
        </p:nvSpPr>
        <p:spPr>
          <a:xfrm>
            <a:off x="7488753" y="5852160"/>
            <a:ext cx="17799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588764" y="1828800"/>
            <a:ext cx="2145731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5" name="Shape 63"/>
          <p:cNvSpPr/>
          <p:nvPr/>
        </p:nvSpPr>
        <p:spPr>
          <a:xfrm>
            <a:off x="9588764" y="1828800"/>
            <a:ext cx="2145731" cy="5486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6" name="Text 64"/>
          <p:cNvSpPr/>
          <p:nvPr/>
        </p:nvSpPr>
        <p:spPr>
          <a:xfrm>
            <a:off x="9588764" y="1993392"/>
            <a:ext cx="21457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9771644" y="2514600"/>
            <a:ext cx="17799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9771644" y="2715768"/>
            <a:ext cx="17799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logs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9771644" y="2916936"/>
            <a:ext cx="17799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 telemetry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9771644" y="3566160"/>
            <a:ext cx="91440" cy="91440"/>
          </a:xfrm>
          <a:prstGeom prst="ellipse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1" name="Text 69"/>
          <p:cNvSpPr/>
          <p:nvPr/>
        </p:nvSpPr>
        <p:spPr>
          <a:xfrm>
            <a:off x="9908804" y="3520440"/>
            <a:ext cx="16885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9771644" y="3749040"/>
            <a:ext cx="17799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flags, batch status, lineage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9771644" y="4892040"/>
            <a:ext cx="91440" cy="91440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4" name="Text 72"/>
          <p:cNvSpPr/>
          <p:nvPr/>
        </p:nvSpPr>
        <p:spPr>
          <a:xfrm>
            <a:off x="9908804" y="4846320"/>
            <a:ext cx="16885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 CURATED  MARTS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9771644" y="5120640"/>
            <a:ext cx="1779971" cy="292608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6" name="Text 74"/>
          <p:cNvSpPr/>
          <p:nvPr/>
        </p:nvSpPr>
        <p:spPr>
          <a:xfrm>
            <a:off x="9771644" y="5120640"/>
            <a:ext cx="17799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Griffin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9771644" y="5486400"/>
            <a:ext cx="1779971" cy="292608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8" name="Text 76"/>
          <p:cNvSpPr/>
          <p:nvPr/>
        </p:nvSpPr>
        <p:spPr>
          <a:xfrm>
            <a:off x="9771644" y="5486400"/>
            <a:ext cx="17799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MLJ domain  →  one Fabric workspace, owned by the domain team.  Platform governance lives above, via OneLake + Purview.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 ×  Manulife Japan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46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DEMO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ManulifeJapan-Fabric-POC  ·  on F64 capacity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63717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91440" cy="21488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317138" y="21031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146" y="216712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" y="269748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 &amp; domain layout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3108960"/>
            <a:ext cx="3179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domain lakehouses with Bronze/Silver/Gold Delta tables. Cosmos-style document table side-by-side with tabular.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77258" y="1828800"/>
            <a:ext cx="363717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2"/>
          <p:cNvSpPr/>
          <p:nvPr/>
        </p:nvSpPr>
        <p:spPr>
          <a:xfrm>
            <a:off x="4277258" y="1828800"/>
            <a:ext cx="91440" cy="21488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3"/>
          <p:cNvSpPr/>
          <p:nvPr/>
        </p:nvSpPr>
        <p:spPr>
          <a:xfrm>
            <a:off x="4551578" y="2011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Shape 14"/>
          <p:cNvSpPr/>
          <p:nvPr/>
        </p:nvSpPr>
        <p:spPr>
          <a:xfrm>
            <a:off x="7137197" y="210312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1205" y="2167128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51578" y="269748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orchestration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551578" y="3108960"/>
            <a:ext cx="3179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Spark notebooks: ingest 6 sources → 5 domain silvers → curated marts (Griffin / AML / IFRS). One platform, no ADF.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8097317" y="1828800"/>
            <a:ext cx="363717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2" name="Shape 18"/>
          <p:cNvSpPr/>
          <p:nvPr/>
        </p:nvSpPr>
        <p:spPr>
          <a:xfrm>
            <a:off x="8097317" y="1828800"/>
            <a:ext cx="91440" cy="2148840"/>
          </a:xfrm>
          <a:prstGeom prst="rect">
            <a:avLst/>
          </a:prstGeom>
          <a:solidFill>
            <a:srgbClr val="74277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Text 19"/>
          <p:cNvSpPr/>
          <p:nvPr/>
        </p:nvSpPr>
        <p:spPr>
          <a:xfrm>
            <a:off x="8371637" y="2011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4" name="Shape 20"/>
          <p:cNvSpPr/>
          <p:nvPr/>
        </p:nvSpPr>
        <p:spPr>
          <a:xfrm>
            <a:off x="10957255" y="2103120"/>
            <a:ext cx="457200" cy="457200"/>
          </a:xfrm>
          <a:prstGeom prst="ellipse">
            <a:avLst/>
          </a:prstGeom>
          <a:solidFill>
            <a:srgbClr val="742774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1263" y="2167128"/>
            <a:ext cx="329184" cy="3291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371637" y="269748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DirectLake semantic model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8371637" y="3108960"/>
            <a:ext cx="3179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hit Delta in place — no import, no refresh. JPY measures: Total Premium, AUM, Claims Ratio, Approval Rate.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57200" y="4160520"/>
            <a:ext cx="363717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9" name="Shape 24"/>
          <p:cNvSpPr/>
          <p:nvPr/>
        </p:nvSpPr>
        <p:spPr>
          <a:xfrm>
            <a:off x="457200" y="4160520"/>
            <a:ext cx="91440" cy="21488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Text 25"/>
          <p:cNvSpPr/>
          <p:nvPr/>
        </p:nvSpPr>
        <p:spPr>
          <a:xfrm>
            <a:off x="731520" y="4343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31" name="Shape 26"/>
          <p:cNvSpPr/>
          <p:nvPr/>
        </p:nvSpPr>
        <p:spPr>
          <a:xfrm>
            <a:off x="3317138" y="443484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1146" y="4498848"/>
            <a:ext cx="329184" cy="32918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31520" y="502920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731520" y="5440680"/>
            <a:ext cx="3179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report against the semantic model — premium by prefecture and product, fed by DirectLake.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4277258" y="4160520"/>
            <a:ext cx="363717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6" name="Shape 30"/>
          <p:cNvSpPr/>
          <p:nvPr/>
        </p:nvSpPr>
        <p:spPr>
          <a:xfrm>
            <a:off x="4277258" y="4160520"/>
            <a:ext cx="91440" cy="2148840"/>
          </a:xfrm>
          <a:prstGeom prst="rect">
            <a:avLst/>
          </a:prstGeom>
          <a:solidFill>
            <a:srgbClr val="00A75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7" name="Text 31"/>
          <p:cNvSpPr/>
          <p:nvPr/>
        </p:nvSpPr>
        <p:spPr>
          <a:xfrm>
            <a:off x="4551578" y="4343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A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38" name="Shape 32"/>
          <p:cNvSpPr/>
          <p:nvPr/>
        </p:nvSpPr>
        <p:spPr>
          <a:xfrm>
            <a:off x="7137197" y="4434840"/>
            <a:ext cx="457200" cy="457200"/>
          </a:xfrm>
          <a:prstGeom prst="ellipse">
            <a:avLst/>
          </a:prstGeom>
          <a:solidFill>
            <a:srgbClr val="00A758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1205" y="4498848"/>
            <a:ext cx="329184" cy="32918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4551578" y="502920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Data Agent</a:t>
            </a:r>
            <a:endParaRPr lang="en-US" sz="1300" dirty="0"/>
          </a:p>
        </p:txBody>
      </p:sp>
      <p:sp>
        <p:nvSpPr>
          <p:cNvPr id="41" name="Text 34"/>
          <p:cNvSpPr/>
          <p:nvPr/>
        </p:nvSpPr>
        <p:spPr>
          <a:xfrm>
            <a:off x="4551578" y="5440680"/>
            <a:ext cx="3179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English &amp; Japanese: "Top 5 advisors by AUM in Tokyo" / "variable annuity approval rate". Cites tables + documents.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8097317" y="4160520"/>
            <a:ext cx="363717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3" name="Shape 36"/>
          <p:cNvSpPr/>
          <p:nvPr/>
        </p:nvSpPr>
        <p:spPr>
          <a:xfrm>
            <a:off x="8097317" y="4160520"/>
            <a:ext cx="91440" cy="21488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4" name="Text 37"/>
          <p:cNvSpPr/>
          <p:nvPr/>
        </p:nvSpPr>
        <p:spPr>
          <a:xfrm>
            <a:off x="8371637" y="4343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45" name="Shape 38"/>
          <p:cNvSpPr/>
          <p:nvPr/>
        </p:nvSpPr>
        <p:spPr>
          <a:xfrm>
            <a:off x="10957255" y="443484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21263" y="4498848"/>
            <a:ext cx="329184" cy="32918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8371637" y="502920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lineage</a:t>
            </a:r>
            <a:endParaRPr lang="en-US" sz="1300" dirty="0"/>
          </a:p>
        </p:txBody>
      </p:sp>
      <p:sp>
        <p:nvSpPr>
          <p:cNvPr id="48" name="Text 40"/>
          <p:cNvSpPr/>
          <p:nvPr/>
        </p:nvSpPr>
        <p:spPr>
          <a:xfrm>
            <a:off x="8371637" y="5440680"/>
            <a:ext cx="3179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 security + Purview lineage — single audit surface across ingest → mart → Power BI → Data Agent.</a:t>
            </a: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6 weeks  ·  reproducible from the POC repo  ·  available for hands-on after the workshop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 ×  Manulife Japan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46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 PHASING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Pragmatic path  ·  parallel run  ·  never break production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182307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182307" cy="6400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2182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121408"/>
            <a:ext cx="21823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2606040"/>
            <a:ext cx="1725107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685800" y="2606040"/>
            <a:ext cx="17251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1-2 wks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3063240"/>
            <a:ext cx="17251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" y="3291840"/>
            <a:ext cx="1725107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704088" y="3429000"/>
            <a:ext cx="91440" cy="914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841248" y="3364992"/>
            <a:ext cx="1679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ADF + DBX jobs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4088" y="3813048"/>
            <a:ext cx="91440" cy="914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841248" y="3749040"/>
            <a:ext cx="1679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UC schemas + Cosmos collections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4088" y="4197096"/>
            <a:ext cx="91440" cy="914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841248" y="4133088"/>
            <a:ext cx="1679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Mirroring quick wins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4088" y="4581144"/>
            <a:ext cx="91440" cy="914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841248" y="4517136"/>
            <a:ext cx="1679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F-SKU sizing inputs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612075" y="3584448"/>
            <a:ext cx="146304" cy="146304"/>
          </a:xfrm>
          <a:prstGeom prst="rtTriangle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2730947" y="1828800"/>
            <a:ext cx="2182307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2730947" y="1828800"/>
            <a:ext cx="2182307" cy="64008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2730947" y="1920240"/>
            <a:ext cx="2182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30947" y="2121408"/>
            <a:ext cx="21823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959547" y="2606040"/>
            <a:ext cx="1725107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2959547" y="2606040"/>
            <a:ext cx="17251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6-8 wks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59547" y="3063240"/>
            <a:ext cx="17251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959547" y="3291840"/>
            <a:ext cx="1725107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Shape 30"/>
          <p:cNvSpPr/>
          <p:nvPr/>
        </p:nvSpPr>
        <p:spPr>
          <a:xfrm>
            <a:off x="2977835" y="3429000"/>
            <a:ext cx="91440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3114995" y="3364992"/>
            <a:ext cx="1679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OneLake + workspace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977835" y="3813048"/>
            <a:ext cx="91440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3114995" y="3749040"/>
            <a:ext cx="1679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Cosmos + SQL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977835" y="4197096"/>
            <a:ext cx="91440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7" name="Text 35"/>
          <p:cNvSpPr/>
          <p:nvPr/>
        </p:nvSpPr>
        <p:spPr>
          <a:xfrm>
            <a:off x="3114995" y="4133088"/>
            <a:ext cx="1679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DBX-managed tables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977835" y="4581144"/>
            <a:ext cx="91440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9" name="Text 37"/>
          <p:cNvSpPr/>
          <p:nvPr/>
        </p:nvSpPr>
        <p:spPr>
          <a:xfrm>
            <a:off x="3114995" y="4517136"/>
            <a:ext cx="1679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lakehouse end-to-end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977835" y="4965192"/>
            <a:ext cx="91440" cy="914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1" name="Text 39"/>
          <p:cNvSpPr/>
          <p:nvPr/>
        </p:nvSpPr>
        <p:spPr>
          <a:xfrm>
            <a:off x="3114995" y="4901184"/>
            <a:ext cx="1679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Parallel-run validation queries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85822" y="3584448"/>
            <a:ext cx="146304" cy="146304"/>
          </a:xfrm>
          <a:prstGeom prst="rtTriangle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3" name="Shape 41"/>
          <p:cNvSpPr/>
          <p:nvPr/>
        </p:nvSpPr>
        <p:spPr>
          <a:xfrm>
            <a:off x="5004694" y="1828800"/>
            <a:ext cx="2182307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4" name="Shape 42"/>
          <p:cNvSpPr/>
          <p:nvPr/>
        </p:nvSpPr>
        <p:spPr>
          <a:xfrm>
            <a:off x="5004694" y="1828800"/>
            <a:ext cx="2182307" cy="640080"/>
          </a:xfrm>
          <a:prstGeom prst="rect">
            <a:avLst/>
          </a:prstGeom>
          <a:solidFill>
            <a:srgbClr val="74277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5" name="Text 43"/>
          <p:cNvSpPr/>
          <p:nvPr/>
        </p:nvSpPr>
        <p:spPr>
          <a:xfrm>
            <a:off x="5004694" y="1920240"/>
            <a:ext cx="2182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04694" y="2121408"/>
            <a:ext cx="21823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233294" y="2606040"/>
            <a:ext cx="1725107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8" name="Text 46"/>
          <p:cNvSpPr/>
          <p:nvPr/>
        </p:nvSpPr>
        <p:spPr>
          <a:xfrm>
            <a:off x="5233294" y="2606040"/>
            <a:ext cx="17251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427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3-6 mo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33294" y="3063240"/>
            <a:ext cx="17251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233294" y="3291840"/>
            <a:ext cx="1725107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1" name="Shape 49"/>
          <p:cNvSpPr/>
          <p:nvPr/>
        </p:nvSpPr>
        <p:spPr>
          <a:xfrm>
            <a:off x="5251582" y="3429000"/>
            <a:ext cx="91440" cy="91440"/>
          </a:xfrm>
          <a:prstGeom prst="rect">
            <a:avLst/>
          </a:prstGeom>
          <a:solidFill>
            <a:srgbClr val="74277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2" name="Text 50"/>
          <p:cNvSpPr/>
          <p:nvPr/>
        </p:nvSpPr>
        <p:spPr>
          <a:xfrm>
            <a:off x="5388742" y="3364992"/>
            <a:ext cx="1679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 →  Distributor  →  Product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251582" y="3813048"/>
            <a:ext cx="91440" cy="91440"/>
          </a:xfrm>
          <a:prstGeom prst="rect">
            <a:avLst/>
          </a:prstGeom>
          <a:solidFill>
            <a:srgbClr val="74277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4" name="Text 52"/>
          <p:cNvSpPr/>
          <p:nvPr/>
        </p:nvSpPr>
        <p:spPr>
          <a:xfrm>
            <a:off x="5388742" y="3749040"/>
            <a:ext cx="1679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Finance  →  System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251582" y="4197096"/>
            <a:ext cx="91440" cy="91440"/>
          </a:xfrm>
          <a:prstGeom prst="rect">
            <a:avLst/>
          </a:prstGeom>
          <a:solidFill>
            <a:srgbClr val="74277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6" name="Text 54"/>
          <p:cNvSpPr/>
          <p:nvPr/>
        </p:nvSpPr>
        <p:spPr>
          <a:xfrm>
            <a:off x="5388742" y="4133088"/>
            <a:ext cx="1679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Re-platform Griffin, AML, IFRS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251582" y="4581144"/>
            <a:ext cx="91440" cy="91440"/>
          </a:xfrm>
          <a:prstGeom prst="rect">
            <a:avLst/>
          </a:prstGeom>
          <a:solidFill>
            <a:srgbClr val="74277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8" name="Text 56"/>
          <p:cNvSpPr/>
          <p:nvPr/>
        </p:nvSpPr>
        <p:spPr>
          <a:xfrm>
            <a:off x="5388742" y="4517136"/>
            <a:ext cx="1679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on DirectLake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251582" y="4965192"/>
            <a:ext cx="91440" cy="91440"/>
          </a:xfrm>
          <a:prstGeom prst="rect">
            <a:avLst/>
          </a:prstGeom>
          <a:solidFill>
            <a:srgbClr val="74277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0" name="Text 58"/>
          <p:cNvSpPr/>
          <p:nvPr/>
        </p:nvSpPr>
        <p:spPr>
          <a:xfrm>
            <a:off x="5388742" y="4901184"/>
            <a:ext cx="1679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policies live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159569" y="3584448"/>
            <a:ext cx="146304" cy="146304"/>
          </a:xfrm>
          <a:prstGeom prst="rtTriangle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2" name="Shape 60"/>
          <p:cNvSpPr/>
          <p:nvPr/>
        </p:nvSpPr>
        <p:spPr>
          <a:xfrm>
            <a:off x="7278441" y="1828800"/>
            <a:ext cx="2182307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3" name="Shape 61"/>
          <p:cNvSpPr/>
          <p:nvPr/>
        </p:nvSpPr>
        <p:spPr>
          <a:xfrm>
            <a:off x="7278441" y="1828800"/>
            <a:ext cx="2182307" cy="6400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4" name="Text 62"/>
          <p:cNvSpPr/>
          <p:nvPr/>
        </p:nvSpPr>
        <p:spPr>
          <a:xfrm>
            <a:off x="7278441" y="1920240"/>
            <a:ext cx="2182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278441" y="2121408"/>
            <a:ext cx="21823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7507041" y="2606040"/>
            <a:ext cx="1725107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7" name="Text 65"/>
          <p:cNvSpPr/>
          <p:nvPr/>
        </p:nvSpPr>
        <p:spPr>
          <a:xfrm>
            <a:off x="7507041" y="2606040"/>
            <a:ext cx="17251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1-2 mo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507041" y="3063240"/>
            <a:ext cx="17251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7507041" y="3291840"/>
            <a:ext cx="1725107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0" name="Shape 68"/>
          <p:cNvSpPr/>
          <p:nvPr/>
        </p:nvSpPr>
        <p:spPr>
          <a:xfrm>
            <a:off x="7525329" y="3429000"/>
            <a:ext cx="91440" cy="914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1" name="Text 69"/>
          <p:cNvSpPr/>
          <p:nvPr/>
        </p:nvSpPr>
        <p:spPr>
          <a:xfrm>
            <a:off x="7662489" y="3364992"/>
            <a:ext cx="1679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 ADF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525329" y="3813048"/>
            <a:ext cx="91440" cy="914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3" name="Text 71"/>
          <p:cNvSpPr/>
          <p:nvPr/>
        </p:nvSpPr>
        <p:spPr>
          <a:xfrm>
            <a:off x="7662489" y="3749040"/>
            <a:ext cx="1679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DBX jobs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525329" y="4197096"/>
            <a:ext cx="91440" cy="914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5" name="Text 73"/>
          <p:cNvSpPr/>
          <p:nvPr/>
        </p:nvSpPr>
        <p:spPr>
          <a:xfrm>
            <a:off x="7662489" y="4133088"/>
            <a:ext cx="1679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Unity Catalog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525329" y="4581144"/>
            <a:ext cx="91440" cy="914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7" name="Text 75"/>
          <p:cNvSpPr/>
          <p:nvPr/>
        </p:nvSpPr>
        <p:spPr>
          <a:xfrm>
            <a:off x="7662489" y="4517136"/>
            <a:ext cx="1679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Agent + Copilot rollout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525329" y="4965192"/>
            <a:ext cx="91440" cy="914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9" name="Text 77"/>
          <p:cNvSpPr/>
          <p:nvPr/>
        </p:nvSpPr>
        <p:spPr>
          <a:xfrm>
            <a:off x="7662489" y="4901184"/>
            <a:ext cx="1679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audit cutover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9433316" y="3584448"/>
            <a:ext cx="146304" cy="146304"/>
          </a:xfrm>
          <a:prstGeom prst="rtTriangle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1" name="Shape 79"/>
          <p:cNvSpPr/>
          <p:nvPr/>
        </p:nvSpPr>
        <p:spPr>
          <a:xfrm>
            <a:off x="9552188" y="1828800"/>
            <a:ext cx="2182307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2" name="Shape 80"/>
          <p:cNvSpPr/>
          <p:nvPr/>
        </p:nvSpPr>
        <p:spPr>
          <a:xfrm>
            <a:off x="9552188" y="1828800"/>
            <a:ext cx="2182307" cy="6400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3" name="Text 81"/>
          <p:cNvSpPr/>
          <p:nvPr/>
        </p:nvSpPr>
        <p:spPr>
          <a:xfrm>
            <a:off x="9552188" y="1920240"/>
            <a:ext cx="2182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9552188" y="2121408"/>
            <a:ext cx="21823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</a:t>
            </a:r>
            <a:endParaRPr lang="en-US" sz="1800" dirty="0"/>
          </a:p>
        </p:txBody>
      </p:sp>
      <p:sp>
        <p:nvSpPr>
          <p:cNvPr id="85" name="Shape 83"/>
          <p:cNvSpPr/>
          <p:nvPr/>
        </p:nvSpPr>
        <p:spPr>
          <a:xfrm>
            <a:off x="9780788" y="2606040"/>
            <a:ext cx="1725107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6" name="Text 84"/>
          <p:cNvSpPr/>
          <p:nvPr/>
        </p:nvSpPr>
        <p:spPr>
          <a:xfrm>
            <a:off x="9780788" y="2606040"/>
            <a:ext cx="17251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ongoing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9780788" y="3063240"/>
            <a:ext cx="17251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9780788" y="3291840"/>
            <a:ext cx="1725107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9" name="Shape 87"/>
          <p:cNvSpPr/>
          <p:nvPr/>
        </p:nvSpPr>
        <p:spPr>
          <a:xfrm>
            <a:off x="9799076" y="3429000"/>
            <a:ext cx="91440" cy="914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0" name="Text 88"/>
          <p:cNvSpPr/>
          <p:nvPr/>
        </p:nvSpPr>
        <p:spPr>
          <a:xfrm>
            <a:off x="9936236" y="3364992"/>
            <a:ext cx="1679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right-sizing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9799076" y="3813048"/>
            <a:ext cx="91440" cy="914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2" name="Text 90"/>
          <p:cNvSpPr/>
          <p:nvPr/>
        </p:nvSpPr>
        <p:spPr>
          <a:xfrm>
            <a:off x="9936236" y="3749040"/>
            <a:ext cx="1679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windows (nights / weekends)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9799076" y="4197096"/>
            <a:ext cx="91440" cy="914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4" name="Text 92"/>
          <p:cNvSpPr/>
          <p:nvPr/>
        </p:nvSpPr>
        <p:spPr>
          <a:xfrm>
            <a:off x="9936236" y="4133088"/>
            <a:ext cx="1679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FinOps review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9799076" y="4581144"/>
            <a:ext cx="91440" cy="914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6" name="Text 94"/>
          <p:cNvSpPr/>
          <p:nvPr/>
        </p:nvSpPr>
        <p:spPr>
          <a:xfrm>
            <a:off x="9936236" y="4517136"/>
            <a:ext cx="1679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AI use cases per domain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457200" y="5760720"/>
            <a:ext cx="11277295" cy="502920"/>
          </a:xfrm>
          <a:prstGeom prst="rect">
            <a:avLst/>
          </a:prstGeom>
          <a:solidFill>
            <a:srgbClr val="0F1729"/>
          </a:solidFill>
          <a:ln/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8" name="Text 96"/>
          <p:cNvSpPr/>
          <p:nvPr/>
        </p:nvSpPr>
        <p:spPr>
          <a:xfrm>
            <a:off x="685800" y="5760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2103120" y="5760720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migration runs in parallel mode  ·  Fabric outputs validated against the current stack before any cutover  ·  the 2026 governance refresh moves under one umbrella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868680" y="54864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1188720" y="54864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1508760" y="54864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1828800" y="54864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2148840" y="54864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2468880" y="54864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2788920" y="54864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548640" y="86868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868680" y="86868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1188720" y="86868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1508760" y="86868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1828800" y="86868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2148840" y="86868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2468880" y="86868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2788920" y="86868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548640" y="118872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868680" y="118872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1188720" y="118872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1508760" y="118872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1828800" y="118872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2148840" y="118872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2468880" y="118872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2788920" y="118872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548640" y="150876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868680" y="150876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1188720" y="150876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Shape 27"/>
          <p:cNvSpPr/>
          <p:nvPr/>
        </p:nvSpPr>
        <p:spPr>
          <a:xfrm>
            <a:off x="1508760" y="150876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Shape 28"/>
          <p:cNvSpPr/>
          <p:nvPr/>
        </p:nvSpPr>
        <p:spPr>
          <a:xfrm>
            <a:off x="1828800" y="150876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1" name="Shape 29"/>
          <p:cNvSpPr/>
          <p:nvPr/>
        </p:nvSpPr>
        <p:spPr>
          <a:xfrm>
            <a:off x="2148840" y="150876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2" name="Shape 30"/>
          <p:cNvSpPr/>
          <p:nvPr/>
        </p:nvSpPr>
        <p:spPr>
          <a:xfrm>
            <a:off x="2468880" y="150876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3" name="Shape 31"/>
          <p:cNvSpPr/>
          <p:nvPr/>
        </p:nvSpPr>
        <p:spPr>
          <a:xfrm>
            <a:off x="2788920" y="150876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4" name="Shape 32"/>
          <p:cNvSpPr/>
          <p:nvPr/>
        </p:nvSpPr>
        <p:spPr>
          <a:xfrm>
            <a:off x="548640" y="182880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5" name="Shape 33"/>
          <p:cNvSpPr/>
          <p:nvPr/>
        </p:nvSpPr>
        <p:spPr>
          <a:xfrm>
            <a:off x="868680" y="182880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6" name="Shape 34"/>
          <p:cNvSpPr/>
          <p:nvPr/>
        </p:nvSpPr>
        <p:spPr>
          <a:xfrm>
            <a:off x="1188720" y="182880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7" name="Shape 35"/>
          <p:cNvSpPr/>
          <p:nvPr/>
        </p:nvSpPr>
        <p:spPr>
          <a:xfrm>
            <a:off x="1508760" y="182880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8" name="Shape 36"/>
          <p:cNvSpPr/>
          <p:nvPr/>
        </p:nvSpPr>
        <p:spPr>
          <a:xfrm>
            <a:off x="1828800" y="182880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9" name="Shape 37"/>
          <p:cNvSpPr/>
          <p:nvPr/>
        </p:nvSpPr>
        <p:spPr>
          <a:xfrm>
            <a:off x="2148840" y="182880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0" name="Shape 38"/>
          <p:cNvSpPr/>
          <p:nvPr/>
        </p:nvSpPr>
        <p:spPr>
          <a:xfrm>
            <a:off x="2468880" y="182880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1" name="Shape 39"/>
          <p:cNvSpPr/>
          <p:nvPr/>
        </p:nvSpPr>
        <p:spPr>
          <a:xfrm>
            <a:off x="2788920" y="1828800"/>
            <a:ext cx="45720" cy="457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2" name="Shape 40"/>
          <p:cNvSpPr/>
          <p:nvPr/>
        </p:nvSpPr>
        <p:spPr>
          <a:xfrm>
            <a:off x="640080" y="2606040"/>
            <a:ext cx="54864" cy="9144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3" name="Text 41"/>
          <p:cNvSpPr/>
          <p:nvPr/>
        </p:nvSpPr>
        <p:spPr>
          <a:xfrm>
            <a:off x="91440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STEPS  ·  MLJ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14400" y="29718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45" name="Text 43"/>
          <p:cNvSpPr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 ·  decisions  ·  date for Phase 1 design.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14400" y="5394960"/>
            <a:ext cx="274320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7" name="Text 45"/>
          <p:cNvSpPr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Account Team  •  Fabric Specialists  •  FastTrack Engineering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Manulife Japan  ·  Data &amp; AI Workshop  ·  May 2026  ·  Confidential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132320" y="2194560"/>
            <a:ext cx="36576" cy="4114800"/>
          </a:xfrm>
          <a:prstGeom prst="rect">
            <a:avLst/>
          </a:prstGeom>
          <a:solidFill>
            <a:srgbClr val="06B6D4">
              <a:alpha val="6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0" name="Text 48"/>
          <p:cNvSpPr/>
          <p:nvPr/>
        </p:nvSpPr>
        <p:spPr>
          <a:xfrm>
            <a:off x="7406640" y="21945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 LADDER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406640" y="2651760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2" name="Text 50"/>
          <p:cNvSpPr/>
          <p:nvPr/>
        </p:nvSpPr>
        <p:spPr>
          <a:xfrm>
            <a:off x="7406640" y="2651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 WEEK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778240" y="26334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POC together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778240" y="2926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which MLJ domain runs Phase 1 (we recommend Customer)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406640" y="3566160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6" name="Text 54"/>
          <p:cNvSpPr/>
          <p:nvPr/>
        </p:nvSpPr>
        <p:spPr>
          <a:xfrm>
            <a:off x="7406640" y="3566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 DAYS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778240" y="35478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Mirroring proof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8778240" y="3840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Cosmos DB mirror + DirectLake report on a production-shape table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406640" y="4480560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0" name="Text 58"/>
          <p:cNvSpPr/>
          <p:nvPr/>
        </p:nvSpPr>
        <p:spPr>
          <a:xfrm>
            <a:off x="7406640" y="44805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 DAYS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778240" y="44622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design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8778240" y="4754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topology · capacity sizing · security model · Purview rollout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406640" y="5394960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4" name="Text 62"/>
          <p:cNvSpPr/>
          <p:nvPr/>
        </p:nvSpPr>
        <p:spPr>
          <a:xfrm>
            <a:off x="7406640" y="53949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 DAYS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778240" y="53766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build kick-off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8778240" y="5669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Parallel-run plan for the Customer domain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 ×  Manulife Japan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0911535" y="64465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B6ED85B-799B-4E39-90B0-4BDB4F754876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7ae67a03-0220-4f6d-8db3-25bbe26b2291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5177</Words>
  <Application>Microsoft Office PowerPoint</Application>
  <PresentationFormat>Widescreen</PresentationFormat>
  <Paragraphs>409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Manulife Japan × Microsoft Fabric POC</dc:title>
  <dc:subject>PptxGenJS Presentation</dc:subject>
  <dc:creator>Microsoft</dc:creator>
  <cp:lastModifiedBy>Anurag Dhuria</cp:lastModifiedBy>
  <cp:revision>2</cp:revision>
  <dcterms:created xsi:type="dcterms:W3CDTF">2026-05-13T17:05:11Z</dcterms:created>
  <dcterms:modified xsi:type="dcterms:W3CDTF">2026-05-13T19:27:46Z</dcterms:modified>
</cp:coreProperties>
</file>