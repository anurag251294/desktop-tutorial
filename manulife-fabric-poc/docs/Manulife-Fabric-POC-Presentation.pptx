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Manulife x Microsoft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BBDDEE"/>
                </a:solidFill>
                <a:latin typeface="Calibri"/>
              </a:defRPr>
            </a:pPr>
            <a:r>
              <a:t>Intelligent Data &amp; Analytics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Copilot-Style Experience with Fabric Data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BBCC"/>
                </a:solidFill>
                <a:latin typeface="Calibri"/>
              </a:defRPr>
            </a:pPr>
            <a:r>
              <a:t>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5943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AAAA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1.   Business Context &amp; Opportunity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2.   Solution Architecture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3.   Data Foundation (OneLake)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4.   Analytics Layer (Semantic Model)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5.   AI-Powered Access (Data Agent)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6.   Live Demo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7.   What's Feasible Now vs. Roadmap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8.   Recommended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Service reps and analysts need fast answers across policy, claims, and investment data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Information is scattered across structured databases and unstructured documents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Traditional BI dashboards require training and don't answer ad-hoc questions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Need: A natural-language interface that combines data insights with document context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Goal: Reduce time-to-insight from hours to 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Calibri"/>
              </a:defRPr>
            </a:pPr>
            <a:r>
              <a:t>POC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256032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Unified Data</a:t>
            </a:r>
            <a:br/>
            <a:r>
              <a:t>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26080"/>
            <a:ext cx="256032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OneLake as single</a:t>
            </a:r>
            <a:br/>
            <a:r>
              <a:t>source of truth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828800"/>
            <a:ext cx="256032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Trusted</a:t>
            </a:r>
            <a:br/>
            <a:r>
              <a:t>Business Logic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926080"/>
            <a:ext cx="256032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Semantic model with</a:t>
            </a:r>
            <a:br/>
            <a:r>
              <a:t>DAX measures &amp; KPIs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828800"/>
            <a:ext cx="256032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Natural Language</a:t>
            </a:r>
            <a:br/>
            <a:r>
              <a:t>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926080"/>
            <a:ext cx="256032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Fabric Data Agent for</a:t>
            </a:r>
            <a:br/>
            <a:r>
              <a:t>conversational queries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828800"/>
            <a:ext cx="256032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Document</a:t>
            </a:r>
            <a:br/>
            <a:r>
              <a:t>Enrichment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2926080"/>
            <a:ext cx="256032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Policy docs, guidelines</a:t>
            </a:r>
            <a:br/>
            <a:r>
              <a:t>integrated via RAG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Calibri"/>
              </a:defRPr>
            </a:pPr>
            <a:r>
              <a:t>Architecture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86AB"/>
                </a:solidFill>
                <a:latin typeface="Calibri"/>
              </a:defRPr>
            </a:pPr>
            <a:r>
              <a:t>OneLake is the foundation.  The Semantic Model is the brain.  The Data Agent is the voice.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560320"/>
            <a:ext cx="6858000" cy="6400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Users  →  Copilot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474720"/>
            <a:ext cx="6858000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 Agent  →  Semantic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389120"/>
            <a:ext cx="6858000" cy="640080"/>
          </a:xfrm>
          <a:prstGeom prst="rect">
            <a:avLst/>
          </a:prstGeom>
          <a:solidFill>
            <a:srgbClr val="3A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OneLake  (Bronze → Silver → Gold)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2926080"/>
            <a:ext cx="2560320" cy="2286000"/>
          </a:xfrm>
          <a:prstGeom prst="rect">
            <a:avLst/>
          </a:prstGeom>
          <a:solidFill>
            <a:srgbClr val="8B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Unstructured Docs</a:t>
            </a:r>
            <a:br/>
            <a:r>
              <a:t>(Azure AI Search)</a:t>
            </a:r>
            <a:br/>
            <a:r>
              <a:t>as enrichment</a:t>
            </a:r>
          </a:p>
        </p:txBody>
      </p:sp>
      <p:sp>
        <p:nvSpPr>
          <p:cNvPr id="9" name="Down Arrow 8"/>
          <p:cNvSpPr/>
          <p:nvPr/>
        </p:nvSpPr>
        <p:spPr>
          <a:xfrm>
            <a:off x="5212080" y="3246120"/>
            <a:ext cx="274320" cy="228600"/>
          </a:xfrm>
          <a:prstGeom prst="down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5212080" y="4160520"/>
            <a:ext cx="274320" cy="228600"/>
          </a:xfrm>
          <a:prstGeom prst="down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Calibri"/>
              </a:defRPr>
            </a:pPr>
            <a:r>
              <a:t>Reference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188720"/>
            <a:ext cx="365760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Business Users</a:t>
            </a:r>
          </a:p>
        </p:txBody>
      </p:sp>
      <p:sp>
        <p:nvSpPr>
          <p:cNvPr id="5" name="Down Arrow 4"/>
          <p:cNvSpPr/>
          <p:nvPr/>
        </p:nvSpPr>
        <p:spPr>
          <a:xfrm>
            <a:off x="5760720" y="1691640"/>
            <a:ext cx="228600" cy="182880"/>
          </a:xfrm>
          <a:prstGeom prst="down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1920240"/>
            <a:ext cx="365760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Standalone Copilot Experience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60720" y="2423160"/>
            <a:ext cx="228600" cy="182880"/>
          </a:xfrm>
          <a:prstGeom prst="down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2651760"/>
            <a:ext cx="2743200" cy="5029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Azure OpenAI Orchestration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2651760"/>
            <a:ext cx="274320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Fabric Data Agent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858000" y="3154680"/>
            <a:ext cx="228600" cy="182880"/>
          </a:xfrm>
          <a:prstGeom prst="down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3383280"/>
            <a:ext cx="365760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Semantic Model (Power BI)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760720" y="3886200"/>
            <a:ext cx="228600" cy="182880"/>
          </a:xfrm>
          <a:prstGeom prst="down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4114800"/>
            <a:ext cx="18288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Bronze (Raw)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4114800"/>
            <a:ext cx="1828800" cy="5029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Silver (Clean)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4114800"/>
            <a:ext cx="1828800" cy="50292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Gold (Star)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4663440"/>
            <a:ext cx="566928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t>OneLake Lakehouse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5303520"/>
            <a:ext cx="3200400" cy="502920"/>
          </a:xfrm>
          <a:prstGeom prst="rect">
            <a:avLst/>
          </a:prstGeom>
          <a:solidFill>
            <a:srgbClr val="5B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Data Sources: CSV / DB (Structured)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5303520"/>
            <a:ext cx="3200400" cy="502920"/>
          </a:xfrm>
          <a:prstGeom prst="rect">
            <a:avLst/>
          </a:prstGeom>
          <a:solidFill>
            <a:srgbClr val="5B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Documents: PDFs / Docs (Unstructured)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2651760"/>
            <a:ext cx="2103120" cy="914400"/>
          </a:xfrm>
          <a:prstGeom prst="rect">
            <a:avLst/>
          </a:prstGeom>
          <a:solidFill>
            <a:srgbClr val="8B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Azure AI Search</a:t>
            </a:r>
            <a:br/>
            <a:r>
              <a:t>(Doc Retrieval)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188720"/>
            <a:ext cx="1828800" cy="484632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Governance</a:t>
            </a:r>
            <a:br/>
            <a:r>
              <a:t>&amp;</a:t>
            </a:r>
            <a:br/>
            <a:r>
              <a:t>Security</a:t>
            </a:r>
            <a:br/>
            <a:br/>
            <a:r>
              <a:t>• RLS</a:t>
            </a:r>
            <a:br/>
            <a:r>
              <a:t>• RBAC</a:t>
            </a:r>
            <a:br/>
            <a:r>
              <a:t>• Audit</a:t>
            </a:r>
            <a:br/>
            <a:r>
              <a:t>• Lineage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Calibri"/>
              </a:defRPr>
            </a:pPr>
            <a:r>
              <a:t>Data Flow — Structured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1097280" cy="822960"/>
          </a:xfrm>
          <a:prstGeom prst="rect">
            <a:avLst/>
          </a:prstGeom>
          <a:solidFill>
            <a:srgbClr val="5B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Raw</a:t>
            </a:r>
            <a:br/>
            <a:r>
              <a:t>Sources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572768" y="3017520"/>
            <a:ext cx="137160" cy="22860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37360" y="2743200"/>
            <a:ext cx="109728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Fabric</a:t>
            </a:r>
            <a:br/>
            <a:r>
              <a:t>Pipelines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52928" y="3017520"/>
            <a:ext cx="137160" cy="22860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0" y="2743200"/>
            <a:ext cx="1097280" cy="8229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Bronze</a:t>
            </a:r>
            <a:br/>
            <a:r>
              <a:t>(Raw)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8" y="3017520"/>
            <a:ext cx="137160" cy="22860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2743200"/>
            <a:ext cx="1097280" cy="8229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Notebooks</a:t>
            </a:r>
            <a:br/>
            <a:r>
              <a:t>(Transform)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13248" y="3017520"/>
            <a:ext cx="137160" cy="22860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2743200"/>
            <a:ext cx="1097280" cy="82296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Silver</a:t>
            </a:r>
            <a:br/>
            <a:r>
              <a:t>(Clean)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693408" y="3017520"/>
            <a:ext cx="137160" cy="22860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2743200"/>
            <a:ext cx="1097280" cy="82296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Gold</a:t>
            </a:r>
            <a:br/>
            <a:r>
              <a:t>(Star Schema)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73568" y="3017520"/>
            <a:ext cx="137160" cy="22860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743200"/>
            <a:ext cx="1097280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Semantic</a:t>
            </a:r>
            <a:br/>
            <a:r>
              <a:t>Model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253728" y="3017520"/>
            <a:ext cx="137160" cy="22860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0" y="2743200"/>
            <a:ext cx="109728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  <a:br/>
            <a:r>
              <a:t>Agent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533888" y="3017520"/>
            <a:ext cx="137160" cy="22860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698480" y="2743200"/>
            <a:ext cx="1097280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Calibri"/>
              </a:defRPr>
            </a:pPr>
            <a:r>
              <a:t>Data Flow — Unstructured Enrichment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1828800" cy="1005840"/>
          </a:xfrm>
          <a:prstGeom prst="rect">
            <a:avLst/>
          </a:prstGeom>
          <a:solidFill>
            <a:srgbClr val="5B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Documents</a:t>
            </a:r>
            <a:br/>
            <a:r>
              <a:t>(PDFs, Guidelines,</a:t>
            </a:r>
            <a:br/>
            <a:r>
              <a:t>Reports)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14600" y="2651760"/>
            <a:ext cx="320040" cy="22860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2286000"/>
            <a:ext cx="1828800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Document</a:t>
            </a:r>
            <a:br/>
            <a:r>
              <a:t>Processing</a:t>
            </a:r>
            <a:br/>
            <a:r>
              <a:t>(Chunking)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0600" y="2651760"/>
            <a:ext cx="320040" cy="22860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80" y="2286000"/>
            <a:ext cx="1828800" cy="1005840"/>
          </a:xfrm>
          <a:prstGeom prst="rect">
            <a:avLst/>
          </a:prstGeom>
          <a:solidFill>
            <a:srgbClr val="8B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Azure AI Search</a:t>
            </a:r>
            <a:br/>
            <a:r>
              <a:t>(Vector Index)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6600" y="2651760"/>
            <a:ext cx="320040" cy="22860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0" y="2286000"/>
            <a:ext cx="182880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Orchestration</a:t>
            </a:r>
            <a:br/>
            <a:r>
              <a:t>Layer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72600" y="2651760"/>
            <a:ext cx="320040" cy="22860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84080" y="2286000"/>
            <a:ext cx="18288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Combined</a:t>
            </a:r>
            <a:br/>
            <a:r>
              <a:t>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Calibri"/>
              </a:defRPr>
            </a:pPr>
            <a:r>
              <a:t>Parallel path merges at orchestration layer: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 Structured data answers come from Semantic Model via Data Agent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 Unstructured context comes from Azure AI Search via RAG pattern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 Orchestration combines both into a unified, grounded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Calibri"/>
              </a:defRPr>
            </a:pPr>
            <a:r>
              <a:t>OneLake — The Data Foundation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9144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Format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Bronze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Raw ingestion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 tables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Delta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Cleansed &amp; enriched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 tables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Delta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Star schema (facts + dims)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 tables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Delta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Chunked content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table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Delta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572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E86AB"/>
                </a:solidFill>
                <a:latin typeface="Calibri"/>
              </a:defRPr>
            </a:pPr>
            <a:r>
              <a:t>Total: 26 delta tables  |  339 KB raw data  |  Open Delta Parquet format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Calibri"/>
              </a:defRPr>
            </a:pPr>
            <a:r>
              <a:t>Curated Analytics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828800"/>
            <a:ext cx="2743200" cy="548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fact_claims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514600"/>
            <a:ext cx="2743200" cy="548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fact_transactions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200400"/>
            <a:ext cx="2743200" cy="548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fact_investments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886200"/>
            <a:ext cx="2743200" cy="548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fact_policy_premiums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228600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dim_customer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228600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dim_product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657600"/>
            <a:ext cx="228600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dim_advisor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828800"/>
            <a:ext cx="228600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dim_policy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743200"/>
            <a:ext cx="228600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dim_date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657600"/>
            <a:ext cx="228600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dim_fund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057400"/>
            <a:ext cx="9144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0" y="2057400"/>
            <a:ext cx="9144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2971800"/>
            <a:ext cx="9144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0" y="2971800"/>
            <a:ext cx="9144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3886200"/>
            <a:ext cx="9144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3886200"/>
            <a:ext cx="9144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Star schema design: 4 fact tables + 6 dimension tables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Key relationships: Customer → Policy → Claims/Premiums | Customer → Investments | Advisor → Customer | Product → Policy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Calibri"/>
              </a:defRPr>
            </a:pPr>
            <a:r>
              <a:t>POC Dataset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91440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54864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Records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Canadian insurance customers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Policies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Life, Health, Auto, Home, Travel, Disability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Claims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~70% approved, ~20% denied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Insurance, Investment, Annuity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Investments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Equity, Bond, Balanced, Money Market, Real Estate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Advisors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 Canadian regions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Payments, payouts, purchases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Policy terms, guidelines, FAQs, reports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Calibri"/>
              </a:defRPr>
            </a:pPr>
            <a:r>
              <a:t>Semantic Model — Trusted KPIs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0292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14 DAX 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Calibri"/>
              </a:defRPr>
            </a:pPr>
            <a:r>
              <a:t>•  Total Premium Revenue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Calibri"/>
              </a:defRPr>
            </a:pPr>
            <a:r>
              <a:t>•  Total Claims Amount / Approved Amount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Calibri"/>
              </a:defRPr>
            </a:pPr>
            <a:r>
              <a:t>•  Claim Count / Approval Rate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Calibri"/>
              </a:defRPr>
            </a:pPr>
            <a:r>
              <a:t>•  Average Processing Days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Calibri"/>
              </a:defRPr>
            </a:pPr>
            <a:r>
              <a:t>•  Total AUM / Investment Inflows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Calibri"/>
              </a:defRPr>
            </a:pPr>
            <a:r>
              <a:t>•  Average Return YTD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Calibri"/>
              </a:defRPr>
            </a:pPr>
            <a:r>
              <a:t>•  Policy Count / Total Coverage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Calibri"/>
              </a:defRPr>
            </a:pPr>
            <a:r>
              <a:t>•  Transaction Amount / 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Why Semantic Model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  <a:latin typeface="Calibri"/>
              </a:defRPr>
            </a:pPr>
            <a:r>
              <a:t>•  Single source of truth for business logic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  <a:latin typeface="Calibri"/>
              </a:defRPr>
            </a:pPr>
            <a:r>
              <a:t>•  Consistent calculations across all consumers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  <a:latin typeface="Calibri"/>
              </a:defRPr>
            </a:pPr>
            <a:r>
              <a:t>•  Data Agent queries measures, not raw tables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  <a:latin typeface="Calibri"/>
              </a:defRPr>
            </a:pPr>
            <a:r>
              <a:t>•  Governance: who can see what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Calibri"/>
              </a:defRPr>
            </a:pPr>
            <a:r>
              <a:t>Natural Language Access — Fabric Data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  <a:latin typeface="Calibri"/>
              </a:defRPr>
            </a:pPr>
            <a:r>
              <a:t>•  Queries the semantic model using natural language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  <a:latin typeface="Calibri"/>
              </a:defRPr>
            </a:pPr>
            <a:r>
              <a:t>•  Returns structured answers with data visualizations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  <a:latin typeface="Calibri"/>
              </a:defRPr>
            </a:pPr>
            <a:r>
              <a:t>•  No SQL or DAX knowledge required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  <a:latin typeface="Calibri"/>
              </a:defRPr>
            </a:pPr>
            <a:r>
              <a:t>•  Governed: respects row-level security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  <a:latin typeface="Calibri"/>
              </a:defRPr>
            </a:pPr>
            <a:r>
              <a:t>•  Currently in Preview — GA expected 2025-2026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371600"/>
            <a:ext cx="484632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Sample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01168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 i="1">
                <a:solidFill>
                  <a:srgbClr val="2E86AB"/>
                </a:solidFill>
                <a:latin typeface="Calibri"/>
              </a:defRPr>
            </a:pPr>
            <a:r>
              <a:t>"How many active policies do we have?"</a:t>
            </a:r>
          </a:p>
          <a:p>
            <a:pPr>
              <a:spcBef>
                <a:spcPts val="1000"/>
              </a:spcBef>
              <a:defRPr sz="1400" i="1">
                <a:solidFill>
                  <a:srgbClr val="2E86AB"/>
                </a:solidFill>
                <a:latin typeface="Calibri"/>
              </a:defRPr>
            </a:pPr>
            <a:r>
              <a:t>"Show claims ratio by policy type"</a:t>
            </a:r>
          </a:p>
          <a:p>
            <a:pPr>
              <a:spcBef>
                <a:spcPts val="1000"/>
              </a:spcBef>
              <a:defRPr sz="1400" i="1">
                <a:solidFill>
                  <a:srgbClr val="2E86AB"/>
                </a:solidFill>
                <a:latin typeface="Calibri"/>
              </a:defRPr>
            </a:pPr>
            <a:r>
              <a:t>"Top 5 customers by investment AUM"</a:t>
            </a:r>
          </a:p>
          <a:p>
            <a:pPr>
              <a:spcBef>
                <a:spcPts val="1000"/>
              </a:spcBef>
              <a:defRPr sz="1400" i="1">
                <a:solidFill>
                  <a:srgbClr val="2E86AB"/>
                </a:solidFill>
                <a:latin typeface="Calibri"/>
              </a:defRPr>
            </a:pPr>
            <a:r>
              <a:t>"What's the premium trend over last 6 months?"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Calibri"/>
              </a:defRPr>
            </a:pPr>
            <a:r>
              <a:t>Document Intelligence — Enrichment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  <a:latin typeface="Calibri"/>
              </a:defRPr>
            </a:pPr>
            <a:r>
              <a:t>•  8 enterprise documents processed and chunked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  <a:latin typeface="Calibri"/>
              </a:defRPr>
            </a:pPr>
            <a:r>
              <a:t>•  Document types: policy terms, claims guidelines, product guides, FAQs, investment commentary, compliance handbooks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  <a:latin typeface="Calibri"/>
              </a:defRPr>
            </a:pPr>
            <a:r>
              <a:t>•  Chunking: sliding window (500 tokens, 50 overlap)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  <a:latin typeface="Calibri"/>
              </a:defRPr>
            </a:pPr>
            <a:r>
              <a:t>•  Pattern: Azure AI Search + Azure OpenAI for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931920"/>
            <a:ext cx="1051560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4E79"/>
                </a:solidFill>
                <a:latin typeface="Calibri"/>
              </a:defRPr>
            </a:pPr>
            <a:r>
              <a:t>Q: "What does the claims guideline say about fraud indicators?"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→  Retrieves relevant document chunks from Azure AI Search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→  Generates answer with document citations via Azure OpenAI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→  Response is grounded in actual enterprise documents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3657600"/>
            <a:ext cx="64008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DEE"/>
                </a:solidFill>
                <a:latin typeface="Calibri"/>
              </a:defRPr>
            </a:pPr>
            <a:r>
              <a:t>Fabric Data Agent in Action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Calibri"/>
              </a:defRPr>
            </a:pPr>
            <a:r>
              <a:t>Demo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463040"/>
            <a:ext cx="18288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Simple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463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"How many active customers do we have?"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423160"/>
            <a:ext cx="18288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Analytical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423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"Show claims by policy type and region"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3383280"/>
            <a:ext cx="18288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Comparative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383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"Which advisors have the highest AUM?"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4343400"/>
            <a:ext cx="18288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343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"What's the monthly premium trend?"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03520"/>
            <a:ext cx="45720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5303520"/>
            <a:ext cx="18288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Hybrid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53035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"Summarize claims data and relevant policy guidelines for Health insurance"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Calibri"/>
              </a:defRPr>
            </a:pPr>
            <a:r>
              <a:t>Current Capabilities vs. Roadmap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OneLake + Medallion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Fully available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PySpark Notebooks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Fully available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Semantic Model (DirectLake)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Fully available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Fabric Data Agent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Preview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Limited GA features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Native RAG in Data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Roadmap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Requires Azure AI Search sidecar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Multi-source grounding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Roadmap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 + docs in single query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Copilot in Fabric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 (tenant opt-in)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Admin must enable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Calibri"/>
              </a:defRPr>
            </a:pPr>
            <a:r>
              <a:t>POC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solidFill>
            <a:srgbClr val="2D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End-to-end data pipeline from raw to Gold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02920" cy="502920"/>
          </a:xfrm>
          <a:prstGeom prst="rect">
            <a:avLst/>
          </a:prstGeom>
          <a:solidFill>
            <a:srgbClr val="2D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26 delta tables across medallion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solidFill>
            <a:srgbClr val="2D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Semantic model with 14 DAX measures and 6 relationships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solidFill>
            <a:srgbClr val="2D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862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Document chunking pipeline for 8 enterprise documents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63440"/>
            <a:ext cx="502920" cy="502920"/>
          </a:xfrm>
          <a:prstGeom prst="rect">
            <a:avLst/>
          </a:prstGeom>
          <a:solidFill>
            <a:srgbClr val="2D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6634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Natural-language query capability via Data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440680"/>
            <a:ext cx="502920" cy="502920"/>
          </a:xfrm>
          <a:prstGeom prst="rect">
            <a:avLst/>
          </a:prstGeom>
          <a:solidFill>
            <a:srgbClr val="2D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4406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Reference architecture suitable for production scale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Calibri"/>
              </a:defRPr>
            </a:pPr>
            <a:r>
              <a:t>Recommended Next Steps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10058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658368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Enable tenant settings for Data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1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Validate POC results with business stakeholders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Define production pilot scope (single BU)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3-4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Provision production Fabric capacity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4-5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Engage Microsoft FastTrack / co-sell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2-3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Develop production SOW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5-6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Calibri"/>
              </a:defRPr>
            </a:pPr>
            <a:r>
              <a:t>Investment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9144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Estimate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POC (current)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$150K - $200K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3-4 months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Year 1 Production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$1M - $2M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 months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Steady State (Year 2+)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$600K - $1.5M / yr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Ongoing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3-Year TCV (base case)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$3M - $6M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Note: Estimates are directional and subject to scoping. Includes Fabric capacity, development, and ongoing support.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4E79"/>
                </a:solidFill>
                <a:latin typeface="Calibri"/>
              </a:defRPr>
            </a:pPr>
            <a:r>
              <a:t>Why Fabric for Manulife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4E79"/>
                </a:solidFill>
                <a:latin typeface="Calibri"/>
              </a:defRPr>
            </a:pPr>
            <a:r>
              <a:t>Unified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20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No stitching BI + data engineering + AI — one product, one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548640" cy="548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6974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4E79"/>
                </a:solidFill>
                <a:latin typeface="Calibri"/>
              </a:defRPr>
            </a:pPr>
            <a:r>
              <a:t>OneLake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One copy of data, open Delta format, governed from day 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548640" cy="548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8862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4E79"/>
                </a:solidFill>
                <a:latin typeface="Calibri"/>
              </a:defRPr>
            </a:pPr>
            <a:r>
              <a:t>DirectLake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297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Semantic model reads delta tables directly — no import, no duplication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20640"/>
            <a:ext cx="548640" cy="548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0749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4E79"/>
                </a:solidFill>
                <a:latin typeface="Calibri"/>
              </a:defRPr>
            </a:pPr>
            <a:r>
              <a:t>Copilot + Data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486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Natural language access as a first-class feature, not an afterthought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3474720"/>
            <a:ext cx="54864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DEE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AAA"/>
                </a:solidFill>
                <a:latin typeface="Calibri"/>
              </a:defRPr>
            </a:pPr>
            <a:r>
              <a:t>CONFIDENTIAL — Manulife POC Engagement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