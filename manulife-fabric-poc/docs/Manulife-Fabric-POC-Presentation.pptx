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and brief positioning. Keep this under 60 seconds.
OPENING
• Thanks for the time today.
• Microsoft account team and Fabric specialists, working with Manulife's data org over the last several weeks.
• This is a technical readout — most of our time will be architecture and a live demo, not slideware.
• Plan: ~30 minutes presented, ~15 minutes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business problem before going technical. About 2 minutes.
KEY POINTS
• Same pattern across service, analyst, and underwriter teams: a question that spans policy + claims + investments AND needs context from a PDF (guideline, product sheet, FAQ).
• Today that answer takes hours — structured and unstructured worlds are queried separately, dashboards only answer pre-built questions, ad-hoc work needs SQL or DAX skills.
• The goal isn't a new dashboard — it's a single conversational interface grounded in both governed data and enterprise documents, without removing any controls Manulife already relies on.
IF ASKED
• Q: Why now?  A: Fabric just hit the maturity where lake + semantic model + Copilot all sit on one substrate. Two years ago you'd stitch four products together.
• Q: Is this replacing Power BI?  A: No — Power BI sits on the same semantic model. The conversational layer is additive.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in the deck. Spend about 3 minutes here.
READ TOP-DOWN  ·  data flows up
• SOURCES: 7 structured entities (customers, policies, claims, products, investments, advisors, transactions) plus 8 enterprise documents (terms, guidelines, FAQs, advisor handbook, annual report).
• INGESTION: Fabric Pipelines orchestrate 5 PySpark notebooks — bronze ingest, silver transform, gold curation, document processing, data validation.
• ONELAKE: medallion in Delta Parquet — Bronze (7 raw + lineage), Silver (7 cleansed + DQ flags), Gold (10 = 4 facts + 6 dims), Docs (1 + Azure AI Search vector index sidecar).
• SEMANTIC LAYER: Power BI semantic model in DirectLake mode — zero-copy reads from Gold, 14 DAX measures, RLS enforced here.
• ACCESS LAYER (two paths): Structured Q&amp;A via Fabric Data Agent (Preview — dashed) does NL → measure → DAX. Unstructured Q&amp;A via Azure AI Search does embed → hybrid (BM25 + HNSW) → rerank → cited.
• ORCHESTRATION: Azure OpenAI + intent router. Both paths converge here — see the merging connectors. Hybrid questions get one combined response.
• SURFACES: standalone Copilot chat (web + Teams) and Power BI dashboards on the same semantic model.
THE THREE ARCHITECTURAL COMMITMENTS
• OneLake is the single data foundation — no second copy of the data anywhere in the stack.
• Semantic model is the trust layer — every metric is a governed DAX measure, never raw SQL exposure.
• Two paths, one model — structured and unstructured share the same governance, identity, and audit.
GOVERNANCE RAIL (right side)
• Cross-cutting, not a layer. Every horizontal layer is touched by Entra ID auth, RLS, Purview lineage, audit logs, and DLP / sensitivity labels.
IF ASKED
• Q: Why is the Data Agent dashed?  A: It's in Preview today. The architecture is GA-ready; only the conversational entry point is preview. Production planning accounts for that.
• Q: Where does Fabric end and Azure begin?  A: OneLake, Pipelines, Notebooks, Power BI, Data Agent are Fabric. Azure OpenAI and Azure AI Search are Azure services Fabric integrates with.
• Q: Can the orchestration layer be swapped?  A: Yes — Azure OpenAI today; the same pattern works with any LLM that supports tool calling.
• Q: How do the two paths actually converge?  A: The orchestrator decides per question — structured-only, RAG-only, or both. For hybrid, it calls both tools in one turn and merges the answers with citations.
• Q: Multi-region?  A: OneLake is region-pinned per workspace; for cross-region you'd run multiple workspaces with mirroring.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2 minutes. Two parallel paths feed the same response.
STRUCTURED PATH (top)
• Source DBs / CSV → Fabric Pipelines → Bronze (Delta) → Silver (cleansed) → Gold (star schema) → Semantic Model.
• Transformations are PySpark notebooks orchestrated by Fabric Pipelines.
UNSTRUCTURED PATH (bottom)
• PDFs / guidelines → chunking (500-token windows, 50-token overlap) → embeddings (text-embedding-3-large) → Azure AI Search index.
CONVERGE
• At query time, orchestration can call the semantic model AND the vector index in one turn, then merge the result with citations.
IF ASKED
• Q: Why 500/50 chunking?  A: A defensible default — small enough that a chunk fits one logical idea, large enough to retain context. Tuneable per document type.
• Q: How fresh is the data?  A: Pipelines run on a configurable schedule; the semantic model reads via DirectLake so there's no import lag once a pipeline lands.
• Q: Streaming?  A: Fabric Eventstream slots in here for real-time ingest if needed — out of POC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2 minutes. Walk the cards left to right.
LAYERS
• Bronze (7 tables): raw, source-faithful, schema-on-read, append-only Delta with full history.
• Silver (7 tables): conformed types, dedup, business keys, late-arriving data handling.
• Gold (10 tables): star schema, query-optimized — what the semantic model points at via DirectLake.
• Docs (1 table): chunked content + Azure AI Search vector sidecar.
WHY THIS MATTERS
• Open: everything is Delta Parquet — readable by Spark, Trino, Snowflake if you needed to.
• DirectLake: semantic model reads delta files in place, no import step. Import-mode performance with live data.
• ACID: transactional guarantees out of the box for any concurrent write workload.
IF ASKED
• Q: Is 26 tables enough?  A: It's a POC. The pattern scales to thousands without redesign — Fabric capacities are the throttle, not the architecture.
• Q: Why a separate docs lakehouse?  A: Different physical layout (chunks + vectors) and different access pattern. Same governance.
• Q: Schema evolution?  A: Delta supports schema evolution and time travel — both used in the POC for late-arriving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 minutes. The most important architectural commitment is on this slide.
LEFT — STAR SCHEMA
• 4 facts (claims, premiums, investments, transactions) and 6 dimensions (customer, policy, product, advisor, date, fund). Standard Kimball.
• Relationships and RLS are defined here, in the Power BI semantic model.
RIGHT — DAX EXAMPLE
• [Claim Approval Rate] is a single DIVIDE of approved claim count over total claim count, with a CALCULATE filter scoping to status = "Approved".
• 1 of 14 measures. The exact same definition is called by Power BI, Excel, and the Data Agent.
THE COMMITMENT
• The Data Agent never queries raw tables — it queries measures only.
• Three benefits: consistency (one number for everyone), governance (RLS enforced at the model level), explainability (every answer traces back to a defined measure).
IF ASKED
• Q: What if a user wants something not in a measure?  A: That's a measure-creation request, owned by the model team. Same governance as adding a Power BI metric today.
• Q: Can the Agent invent a measure?  A: No — it can only call measures that exist. By design.
• Q: Why DAX over SQL for the contract?  A: DAX is the language of the semantic model and is what handles RLS and DirectLake natively.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minute. Quick orientation; don't dwell.
CONTENTS
• 200 synthetic Canadian customers, 391 policies (Life, Health, Auto, Home, Travel, Disability).
• 300 claims with a realistic ~70/20/10 approve/deny/pending distribution.
• 300 investments across asset classes; 30 advisors mapped to 6 regions.
• 800 transactions; 8 enterprise documents (terms, guidelines, FAQs, an investment commentary).
WHY THIS SCALE
• Big enough to validate every architectural pattern — joins, aggregations, RLS, RAG retrieval.
• Small enough to fit on a single F2 capacity for the POC.
• No PII — all synthetic but schema-faithful to Manulife domains.
IF ASKED
• Q: Will these patterns hold at production volume?  A: Yes — Delta + DirectLake + semantic model already run at multi-billion-row scale at other Microsoft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 minutes. Many tech stakeholders care most about this slide.
LEFT — STRUCTURED Q&amp;A (Fabric Data Agent)
• User asks in English → Agent resolves to a measure → builds a filtered DAX query → returns a table + chart.
• Agent never queries raw tables. Only measures. So [Claim Approval Rate] means one specific calculation regardless of who asks.
RIGHT — UNSTRUCTURED Q&amp;A (RAG)
• Question → embed (text-embedding-3-large) → top-K chunks from Azure AI Search by cosine similarity → rerank → ground GPT-4o response → return with explicit page citations.
• The user can verify the source — answers are grounded, not hallucinated.
GOVERNANCE
• Both modes inherit RLS, RBAC, and audit from the underlying layers.
• If a user can't see Quebec customers in Power BI, the Agent can't return them either. If a user lacks document permission, RAG won't retrieve from it.
• Orchestration can call both tools in one turn — that's how query 5 in the demo works.
IF ASKED
• Q: What model powers the Agent?  A: Azure OpenAI (GPT-4o family). Configurable.
• Q: Latency?  A: Typical structured query 2–4s end to end on F2; RAG adds 1–2s for retrieval. Production capacity sizing improves both.
• Q: Hallucination risk?  A: Structured answers come from DAX results, not generation — no hallucination surface. RAG answers always cite the source chunk.
• Q: Can users see the generated DAX?  A: Yes, in audit logs. We can also surface it in the UI for power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5–8 minutes for the live demo. Keep narration light; let the answers do the work.
SEQUENCE (deliberate)
• Q1 SIMPLE: single measure, no slicing — establishes baseline.
• Q2 ANALYTICAL: 2-dim slice — produces a chart automatically.
• Q3 COMPARATIVE: top-N — implicit aggregation + sort.
• Q4 TREND: time series via dim_date — month-over-month context.
• Q5 HYBRID: the architecture stress-test — Agent calls both the semantic model AND the RAG index, returns analytical summary + cited guideline in one response.
DEMO HYGIENE
• If anything is flaky live (Agent latency varies), fall back to screenshots — the architecture is the point, not demo speed.
• Pause after Q5 to let it land. That's the slide-6 commitment paying off in a real interaction.
IF ASKED
• Q: How does the Agent know which measure to call?  A: Model metadata — measure names, descriptions, synonyms — exposed to the LLM as a tool spec.
• Q: Can I add my own queries?  A: Yes — I'll take suggestions live if we have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2 minutes. Pre-empt the "why not assemble this from other tools" question.
REASONS
• Unified platform: BI, data engineering, data science, AI in one product. Fewer integration seams to break.
• OneLake: single copy of data, governed at the lake level, serves dashboards / notebooks / ML / Agent without duplication.
• DirectLake: semantic models read delta tables in place. Import-mode speed without an import step. Dashboards stay fresh as the lake updates.
• Copilot: conversational AI is built into Fabric, not bolted on. Microsoft's investment trajectory here is the strongest in the market.
NET EFFECT
• Lower TCO, faster time-to-value, smaller team to run the platform — all of which matter at Manulife's scale.
IF ASKED
• Q: How does this compare to Databricks + Snowflake + separate BI?  A: Functionally similar capabilities; Fabric collapses them onto one substrate with one governance model. The win is operational, not capability.
• Q: Lock-in risk?  A: Data is open Delta Parquet — portable. Orchestration is Azure-anchored, but storage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Keep it warm and brief.
ANCHOR QUESTIONS (if the room is quiet)
• Which parts of the architecture raised questions for the data or security teams?
• What additional data domains or document sources would change the picture if we layered them in?
• Who from Manulife's data, security, and business teams should be in the room for the next working session?
CLOSE
• Thank everyone for the time.
• Confirm the deck will be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00684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2688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4692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96696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28700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92708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24712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567160" y="5486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00684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32688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64692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96696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28700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60704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92708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24712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67160" y="86868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00684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32688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64692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96696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060704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92708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124712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567160" y="118872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68680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00684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32688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64692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996696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28700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60704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2708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24712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567160" y="150876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8680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00684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32688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64692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96696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28700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60704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92708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24712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1567160" y="182880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68680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00684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32688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64692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96696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028700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060704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092708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124712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1567160" y="2148840"/>
            <a:ext cx="54864" cy="54864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640080" y="1463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40080" y="18745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Data &amp;</a:t>
            </a:r>
            <a:endParaRPr lang="en-US" sz="6000" dirty="0"/>
          </a:p>
        </p:txBody>
      </p:sp>
      <p:sp>
        <p:nvSpPr>
          <p:cNvPr id="64" name="Text 62"/>
          <p:cNvSpPr/>
          <p:nvPr/>
        </p:nvSpPr>
        <p:spPr>
          <a:xfrm>
            <a:off x="640080" y="26974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on Microsoft Fabric</a:t>
            </a:r>
            <a:endParaRPr lang="en-US" sz="6000" dirty="0"/>
          </a:p>
        </p:txBody>
      </p:sp>
      <p:sp>
        <p:nvSpPr>
          <p:cNvPr id="65" name="Text 63"/>
          <p:cNvSpPr/>
          <p:nvPr/>
        </p:nvSpPr>
        <p:spPr>
          <a:xfrm>
            <a:off x="6400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Copilot-style experience powered by OneLake, the semantic model, and the Fabric Data Agent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640080" y="5120640"/>
            <a:ext cx="36576" cy="9144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7" name="Text 65"/>
          <p:cNvSpPr/>
          <p:nvPr/>
        </p:nvSpPr>
        <p:spPr>
          <a:xfrm>
            <a:off x="86868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 •  TECHNICAL READOUT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868680" y="5440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Microsoft for Manulife Financial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868680" y="5760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 •  Confidential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8595360" y="4023360"/>
            <a:ext cx="36576" cy="2286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1" name="Text 69"/>
          <p:cNvSpPr/>
          <p:nvPr/>
        </p:nvSpPr>
        <p:spPr>
          <a:xfrm>
            <a:off x="8823960" y="40233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 IN  SCOPE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842248" y="4553712"/>
            <a:ext cx="73152" cy="73152"/>
          </a:xfrm>
          <a:prstGeom prst="ellipse">
            <a:avLst/>
          </a:prstGeom>
          <a:solidFill>
            <a:srgbClr val="06B6D4">
              <a:alpha val="70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9006840" y="44805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OneLake  ·  Delta Parquet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8842248" y="4846320"/>
            <a:ext cx="73152" cy="73152"/>
          </a:xfrm>
          <a:prstGeom prst="ellipse">
            <a:avLst/>
          </a:prstGeom>
          <a:solidFill>
            <a:srgbClr val="06B6D4">
              <a:alpha val="70000"/>
            </a:srgbClr>
          </a:solidFill>
          <a:ln/>
        </p:spPr>
      </p:sp>
      <p:sp>
        <p:nvSpPr>
          <p:cNvPr id="75" name="Text 73"/>
          <p:cNvSpPr/>
          <p:nvPr/>
        </p:nvSpPr>
        <p:spPr>
          <a:xfrm>
            <a:off x="9006840" y="47731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 BI Semantic Model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8842248" y="5138928"/>
            <a:ext cx="73152" cy="73152"/>
          </a:xfrm>
          <a:prstGeom prst="ellipse">
            <a:avLst/>
          </a:prstGeom>
          <a:solidFill>
            <a:srgbClr val="06B6D4">
              <a:alpha val="70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9006840" y="506577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 Data Agent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8842248" y="5431536"/>
            <a:ext cx="73152" cy="73152"/>
          </a:xfrm>
          <a:prstGeom prst="ellipse">
            <a:avLst/>
          </a:prstGeom>
          <a:solidFill>
            <a:srgbClr val="06B6D4">
              <a:alpha val="70000"/>
            </a:srgbClr>
          </a:solidFill>
          <a:ln/>
        </p:spPr>
      </p:sp>
      <p:sp>
        <p:nvSpPr>
          <p:cNvPr id="79" name="Text 77"/>
          <p:cNvSpPr/>
          <p:nvPr/>
        </p:nvSpPr>
        <p:spPr>
          <a:xfrm>
            <a:off x="9006840" y="535838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AI Search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842248" y="5724144"/>
            <a:ext cx="73152" cy="73152"/>
          </a:xfrm>
          <a:prstGeom prst="ellipse">
            <a:avLst/>
          </a:prstGeom>
          <a:solidFill>
            <a:srgbClr val="06B6D4">
              <a:alpha val="70000"/>
            </a:srgbClr>
          </a:solidFill>
          <a:ln/>
        </p:spPr>
      </p:sp>
      <p:sp>
        <p:nvSpPr>
          <p:cNvPr id="81" name="Text 79"/>
          <p:cNvSpPr/>
          <p:nvPr/>
        </p:nvSpPr>
        <p:spPr>
          <a:xfrm>
            <a:off x="9006840" y="565099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OpenAI  (GPT-4o)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8842248" y="6016752"/>
            <a:ext cx="73152" cy="73152"/>
          </a:xfrm>
          <a:prstGeom prst="ellipse">
            <a:avLst/>
          </a:prstGeom>
          <a:solidFill>
            <a:srgbClr val="06B6D4">
              <a:alpha val="70000"/>
            </a:srgbClr>
          </a:solidFill>
          <a:ln/>
        </p:spPr>
      </p:sp>
      <p:sp>
        <p:nvSpPr>
          <p:cNvPr id="83" name="Text 81"/>
          <p:cNvSpPr/>
          <p:nvPr/>
        </p:nvSpPr>
        <p:spPr>
          <a:xfrm>
            <a:off x="9006840" y="59436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 ID  ·  Purview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Time-to-insight is the bottleneck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reps and analysts need answers across policy, claims, and investment data — but the answers live in two different worlds.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411480" cy="411480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9077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data estate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218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systems and unstructured documents are queried separately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11480" cy="411480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6850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fatigue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995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tools answer pre-built questions, not the ad-hoc ones that come up in the moment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480560"/>
            <a:ext cx="411480" cy="411480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480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44622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skills gap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and DAX gate access to data that the business needs in real time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32320" y="1828800"/>
            <a:ext cx="4572000" cy="4114800"/>
          </a:xfrm>
          <a:prstGeom prst="rect">
            <a:avLst/>
          </a:prstGeom>
          <a:solidFill>
            <a:srgbClr val="0F1729"/>
          </a:solidFill>
          <a:ln/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98080" y="2194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98080" y="2514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time-to-insight from hours to seconds.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98080" y="384048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business a single conversational interface that grounds answers in both governed data and enterprise documents — without removing any of the controls Manulife already relies 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5394960"/>
            <a:ext cx="4572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0" y="54864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 →  Seconds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Microsoft Fabric pattern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45920" y="1783080"/>
            <a:ext cx="8321040" cy="457200"/>
          </a:xfrm>
          <a:prstGeom prst="rect">
            <a:avLst/>
          </a:prstGeom>
          <a:solidFill>
            <a:srgbClr val="0F172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452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Users  ·  Surfaces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Standalone chat (web, Teams)   ·   Power BI dashboards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69864" y="2240280"/>
            <a:ext cx="73152" cy="9144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317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645920" y="2331720"/>
            <a:ext cx="8321040" cy="457200"/>
          </a:xfrm>
          <a:prstGeom prst="rect">
            <a:avLst/>
          </a:prstGeom>
          <a:solidFill>
            <a:srgbClr val="742774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874520" y="2331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+  Intent Router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GPT-4o   ·   intent → tool routing   ·   merges paths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69741" y="2839212"/>
            <a:ext cx="45720" cy="41148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17" name="Shape 15"/>
          <p:cNvSpPr/>
          <p:nvPr/>
        </p:nvSpPr>
        <p:spPr>
          <a:xfrm>
            <a:off x="7697419" y="2839212"/>
            <a:ext cx="45720" cy="41148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18" name="Shape 16"/>
          <p:cNvSpPr/>
          <p:nvPr/>
        </p:nvSpPr>
        <p:spPr>
          <a:xfrm>
            <a:off x="3892601" y="2839212"/>
            <a:ext cx="3827678" cy="4572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19" name="Shape 17"/>
          <p:cNvSpPr/>
          <p:nvPr/>
        </p:nvSpPr>
        <p:spPr>
          <a:xfrm>
            <a:off x="5783580" y="2788920"/>
            <a:ext cx="45720" cy="50292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88036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645920" y="2880360"/>
            <a:ext cx="4078224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8D4"/>
            </a:solidFill>
            <a:prstDash val="dash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46904" y="2953512"/>
            <a:ext cx="713232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4946904" y="2953512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828800" y="29718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 Q&amp;A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28800" y="3172968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828800" y="3447288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  →  measure resolve  →  DAX  →  table + chart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88736" y="2880360"/>
            <a:ext cx="4078224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742774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71616" y="2971800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 Q&amp;A  (RAG)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71616" y="3172968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 +  GPT-4o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71616" y="3447288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  →  hybrid (BM25 + HNSW)  →  rerank  →  cited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856025" y="3749040"/>
            <a:ext cx="73152" cy="9144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683703" y="3749040"/>
            <a:ext cx="73152" cy="9144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3840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LAYER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645920" y="3840480"/>
            <a:ext cx="8321040" cy="457200"/>
          </a:xfrm>
          <a:prstGeom prst="rect">
            <a:avLst/>
          </a:prstGeom>
          <a:solidFill>
            <a:srgbClr val="0078D4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874520" y="3840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Semantic Model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937760" y="3840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DirectLake (zero-copy)   ·   star schema   ·   14 DAX   ·   RLS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9864" y="4297680"/>
            <a:ext cx="73152" cy="9144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38912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645920" y="4389120"/>
            <a:ext cx="8321040" cy="77724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828800" y="44622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 Lakehouse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22376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Delta Parquet  ·  ABFSS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828800" y="4700016"/>
            <a:ext cx="1933956" cy="393192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0" y="4736592"/>
            <a:ext cx="1933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828800" y="4919472"/>
            <a:ext cx="1933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 delta tables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28800" y="5102352"/>
            <a:ext cx="1933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+ lineage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835908" y="4700016"/>
            <a:ext cx="1933956" cy="393192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7" name="Text 45"/>
          <p:cNvSpPr/>
          <p:nvPr/>
        </p:nvSpPr>
        <p:spPr>
          <a:xfrm>
            <a:off x="3835908" y="4736592"/>
            <a:ext cx="1933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35908" y="4919472"/>
            <a:ext cx="1933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 delta tables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835908" y="5102352"/>
            <a:ext cx="1933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cleansed + DQ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843016" y="4700016"/>
            <a:ext cx="1933956" cy="3931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1" name="Text 49"/>
          <p:cNvSpPr/>
          <p:nvPr/>
        </p:nvSpPr>
        <p:spPr>
          <a:xfrm>
            <a:off x="5843016" y="4736592"/>
            <a:ext cx="1933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843016" y="4919472"/>
            <a:ext cx="1933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delta tables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843016" y="5102352"/>
            <a:ext cx="1933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facts + 6 dims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7850124" y="4700016"/>
            <a:ext cx="1933956" cy="393192"/>
          </a:xfrm>
          <a:prstGeom prst="rect">
            <a:avLst/>
          </a:prstGeom>
          <a:solidFill>
            <a:srgbClr val="00A758"/>
          </a:solidFill>
          <a:ln/>
        </p:spPr>
      </p:sp>
      <p:sp>
        <p:nvSpPr>
          <p:cNvPr id="55" name="Text 53"/>
          <p:cNvSpPr/>
          <p:nvPr/>
        </p:nvSpPr>
        <p:spPr>
          <a:xfrm>
            <a:off x="7850124" y="4736592"/>
            <a:ext cx="1933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850124" y="4919472"/>
            <a:ext cx="1933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+ vector index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850124" y="5102352"/>
            <a:ext cx="1933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sidecar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769864" y="5166360"/>
            <a:ext cx="73152" cy="9144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52578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645920" y="5257800"/>
            <a:ext cx="8321040" cy="4572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1874520" y="5257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Pipelines  +  PySpark Notebooks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937760" y="5257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notebooks:   bronze  →  silver  →  gold  →  docs  →  validate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769864" y="5715000"/>
            <a:ext cx="73152" cy="9144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58064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1645920" y="5806440"/>
            <a:ext cx="8321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874520" y="5806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Systems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937760" y="58064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structured  (CSV / DB)        ·        8 unstructured  (PDF)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0104120" y="1783080"/>
            <a:ext cx="1627632" cy="4480560"/>
          </a:xfrm>
          <a:prstGeom prst="rect">
            <a:avLst/>
          </a:prstGeom>
          <a:solidFill>
            <a:srgbClr val="0F172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0104120" y="1947672"/>
            <a:ext cx="1627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10104120" y="2194560"/>
            <a:ext cx="1627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cross-cutting  ·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10268712" y="2743200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2" name="Text 70"/>
          <p:cNvSpPr/>
          <p:nvPr/>
        </p:nvSpPr>
        <p:spPr>
          <a:xfrm>
            <a:off x="10415016" y="265176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 (RBAC)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10268712" y="34381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4" name="Text 72"/>
          <p:cNvSpPr/>
          <p:nvPr/>
        </p:nvSpPr>
        <p:spPr>
          <a:xfrm>
            <a:off x="10415016" y="3346704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10268712" y="413308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6" name="Text 74"/>
          <p:cNvSpPr/>
          <p:nvPr/>
        </p:nvSpPr>
        <p:spPr>
          <a:xfrm>
            <a:off x="10415016" y="404164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10268712" y="482803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8" name="Text 76"/>
          <p:cNvSpPr/>
          <p:nvPr/>
        </p:nvSpPr>
        <p:spPr>
          <a:xfrm>
            <a:off x="10415016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268712" y="5522976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0" name="Text 78"/>
          <p:cNvSpPr/>
          <p:nvPr/>
        </p:nvSpPr>
        <p:spPr>
          <a:xfrm>
            <a:off x="10415016" y="543153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 / Sensitivity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57200" y="635508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top-down: data flows up.  Two access paths converge at orchestration.  Governance touches every layer.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paths, one orchestrated response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371600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4206240"/>
            <a:ext cx="1371600" cy="1554480"/>
          </a:xfrm>
          <a:prstGeom prst="rect">
            <a:avLst/>
          </a:prstGeom>
          <a:solidFill>
            <a:srgbClr val="00A75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4983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(RAG)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03120" y="2354580"/>
            <a:ext cx="92964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03120" y="2354580"/>
            <a:ext cx="929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DBs / CSV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5620" y="2734056"/>
            <a:ext cx="137160" cy="109728"/>
          </a:xfrm>
          <a:prstGeom prst="rtTriangle">
            <a:avLst/>
          </a:prstGeom>
          <a:solidFill>
            <a:srgbClr val="0078D4"/>
          </a:solidFill>
          <a:ln/>
        </p:spPr>
      </p:sp>
      <p:sp>
        <p:nvSpPr>
          <p:cNvPr id="16" name="Shape 14"/>
          <p:cNvSpPr/>
          <p:nvPr/>
        </p:nvSpPr>
        <p:spPr>
          <a:xfrm>
            <a:off x="3215640" y="2354580"/>
            <a:ext cx="92964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15640" y="2354580"/>
            <a:ext cx="929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Pipelines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68140" y="2734056"/>
            <a:ext cx="137160" cy="109728"/>
          </a:xfrm>
          <a:prstGeom prst="rtTriangle">
            <a:avLst/>
          </a:prstGeom>
          <a:solidFill>
            <a:srgbClr val="0078D4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8160" y="2354580"/>
            <a:ext cx="92964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28160" y="2354580"/>
            <a:ext cx="929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(Delta)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80660" y="2734056"/>
            <a:ext cx="137160" cy="109728"/>
          </a:xfrm>
          <a:prstGeom prst="rtTriangle">
            <a:avLst/>
          </a:prstGeom>
          <a:solidFill>
            <a:srgbClr val="0078D4"/>
          </a:solidFill>
          <a:ln/>
        </p:spPr>
      </p:sp>
      <p:sp>
        <p:nvSpPr>
          <p:cNvPr id="22" name="Shape 20"/>
          <p:cNvSpPr/>
          <p:nvPr/>
        </p:nvSpPr>
        <p:spPr>
          <a:xfrm>
            <a:off x="5440680" y="2354580"/>
            <a:ext cx="92964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40680" y="2354580"/>
            <a:ext cx="929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(Cleansed)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93180" y="2734056"/>
            <a:ext cx="137160" cy="109728"/>
          </a:xfrm>
          <a:prstGeom prst="rtTriangle">
            <a:avLst/>
          </a:prstGeom>
          <a:solidFill>
            <a:srgbClr val="0078D4"/>
          </a:solidFill>
          <a:ln/>
        </p:spPr>
      </p:sp>
      <p:sp>
        <p:nvSpPr>
          <p:cNvPr id="25" name="Shape 23"/>
          <p:cNvSpPr/>
          <p:nvPr/>
        </p:nvSpPr>
        <p:spPr>
          <a:xfrm>
            <a:off x="6553200" y="2354580"/>
            <a:ext cx="92964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3200" y="2354580"/>
            <a:ext cx="929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(Star Schema)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05700" y="2734056"/>
            <a:ext cx="137160" cy="109728"/>
          </a:xfrm>
          <a:prstGeom prst="rtTriangle">
            <a:avLst/>
          </a:prstGeom>
          <a:solidFill>
            <a:srgbClr val="0078D4"/>
          </a:solidFill>
          <a:ln/>
        </p:spPr>
      </p:sp>
      <p:sp>
        <p:nvSpPr>
          <p:cNvPr id="28" name="Shape 26"/>
          <p:cNvSpPr/>
          <p:nvPr/>
        </p:nvSpPr>
        <p:spPr>
          <a:xfrm>
            <a:off x="7665720" y="2354580"/>
            <a:ext cx="92964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78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65720" y="2354580"/>
            <a:ext cx="929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Model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103120" y="4549140"/>
            <a:ext cx="148590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A7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03120" y="4549140"/>
            <a:ext cx="14859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 / Guidelines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11880" y="4928616"/>
            <a:ext cx="137160" cy="109728"/>
          </a:xfrm>
          <a:prstGeom prst="rtTriangle">
            <a:avLst/>
          </a:prstGeom>
          <a:solidFill>
            <a:srgbClr val="00A758"/>
          </a:solidFill>
          <a:ln/>
        </p:spPr>
      </p:sp>
      <p:sp>
        <p:nvSpPr>
          <p:cNvPr id="33" name="Shape 31"/>
          <p:cNvSpPr/>
          <p:nvPr/>
        </p:nvSpPr>
        <p:spPr>
          <a:xfrm>
            <a:off x="3771900" y="4549140"/>
            <a:ext cx="148590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A7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71900" y="4549140"/>
            <a:ext cx="14859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(500 / 50 overlap)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280660" y="4928616"/>
            <a:ext cx="137160" cy="109728"/>
          </a:xfrm>
          <a:prstGeom prst="rtTriangle">
            <a:avLst/>
          </a:prstGeom>
          <a:solidFill>
            <a:srgbClr val="00A758"/>
          </a:solidFill>
          <a:ln/>
        </p:spPr>
      </p:sp>
      <p:sp>
        <p:nvSpPr>
          <p:cNvPr id="36" name="Shape 34"/>
          <p:cNvSpPr/>
          <p:nvPr/>
        </p:nvSpPr>
        <p:spPr>
          <a:xfrm>
            <a:off x="5440680" y="4549140"/>
            <a:ext cx="148590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A7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40680" y="4549140"/>
            <a:ext cx="14859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Embeddings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(text-embedding-3-large)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49440" y="4928616"/>
            <a:ext cx="137160" cy="109728"/>
          </a:xfrm>
          <a:prstGeom prst="rtTriangle">
            <a:avLst/>
          </a:prstGeom>
          <a:solidFill>
            <a:srgbClr val="00A758"/>
          </a:solidFill>
          <a:ln/>
        </p:spPr>
      </p:sp>
      <p:sp>
        <p:nvSpPr>
          <p:cNvPr id="39" name="Shape 37"/>
          <p:cNvSpPr/>
          <p:nvPr/>
        </p:nvSpPr>
        <p:spPr>
          <a:xfrm>
            <a:off x="7109460" y="4549140"/>
            <a:ext cx="1485900" cy="868680"/>
          </a:xfrm>
          <a:prstGeom prst="rect">
            <a:avLst/>
          </a:prstGeom>
          <a:solidFill>
            <a:srgbClr val="F1F5F9"/>
          </a:solidFill>
          <a:ln w="15875">
            <a:solidFill>
              <a:srgbClr val="00A7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09460" y="4549140"/>
            <a:ext cx="14859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(hybrid index)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595360" y="2788920"/>
            <a:ext cx="1097280" cy="1097280"/>
          </a:xfrm>
          <a:prstGeom prst="line">
            <a:avLst/>
          </a:prstGeom>
          <a:noFill/>
          <a:ln w="38100">
            <a:solidFill>
              <a:srgbClr val="0078D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8595360" y="3886200"/>
            <a:ext cx="1097280" cy="1097280"/>
          </a:xfrm>
          <a:prstGeom prst="line">
            <a:avLst/>
          </a:prstGeom>
          <a:noFill/>
          <a:ln w="38100">
            <a:solidFill>
              <a:srgbClr val="00A758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692640" y="3108960"/>
            <a:ext cx="2194560" cy="1554480"/>
          </a:xfrm>
          <a:prstGeom prst="rect">
            <a:avLst/>
          </a:prstGeom>
          <a:solidFill>
            <a:srgbClr val="0F1729"/>
          </a:solidFill>
          <a:ln/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692640" y="3108960"/>
            <a:ext cx="2194560" cy="73152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45" name="Text 43"/>
          <p:cNvSpPr/>
          <p:nvPr/>
        </p:nvSpPr>
        <p:spPr>
          <a:xfrm>
            <a:off x="9692640" y="32735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692640" y="3520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692640" y="38587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 ·  intent routing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966960" y="4160520"/>
            <a:ext cx="164592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692640" y="4206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merges  →  cited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692640" y="440740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789920" y="4663440"/>
            <a:ext cx="0" cy="1325880"/>
          </a:xfrm>
          <a:prstGeom prst="line">
            <a:avLst/>
          </a:prstGeom>
          <a:noFill/>
          <a:ln w="31750">
            <a:solidFill>
              <a:srgbClr val="74277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457200" y="612648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unified, governed, cited response to the user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organized by the medallion pattern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971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20240"/>
            <a:ext cx="2971800" cy="6400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039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ingestion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D7F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TABLES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3977640"/>
            <a:ext cx="2423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133088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" y="43434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bronze_customers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bronze_policies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bronze_claims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bronze_advisors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bronze_products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bronze_funds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bronze_transactions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0" y="1920240"/>
            <a:ext cx="2971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0" y="1920240"/>
            <a:ext cx="2971800" cy="640080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039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840480" y="26334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Cleansed &amp; enriched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657600" y="36118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TABLES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931920" y="3977640"/>
            <a:ext cx="2423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4133088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931920" y="43434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silver_customers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silver_policies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silver_claims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silver_advisors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silver_products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silver_funds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silver_transactions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0" y="1920240"/>
            <a:ext cx="2971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58000" y="1920240"/>
            <a:ext cx="2971800" cy="6400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0" y="2039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040880" y="26334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(facts + dims)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5800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6858000" y="36118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TABLES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132320" y="3977640"/>
            <a:ext cx="2423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0" y="4133088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132320" y="43434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fact_claims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fact_premiums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fact_investments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fact_transactions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dim_customer, dim_policy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dim_product, dim_advisor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dim_date, dim_fund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058400" y="1920240"/>
            <a:ext cx="1676095" cy="32918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058400" y="1920240"/>
            <a:ext cx="1676095" cy="640080"/>
          </a:xfrm>
          <a:prstGeom prst="rect">
            <a:avLst/>
          </a:prstGeom>
          <a:solidFill>
            <a:srgbClr val="00A758"/>
          </a:solidFill>
          <a:ln/>
        </p:spPr>
      </p:sp>
      <p:sp>
        <p:nvSpPr>
          <p:cNvPr id="36" name="Text 34"/>
          <p:cNvSpPr/>
          <p:nvPr/>
        </p:nvSpPr>
        <p:spPr>
          <a:xfrm>
            <a:off x="10058400" y="2039112"/>
            <a:ext cx="1676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058400" y="2633472"/>
            <a:ext cx="1676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Chunked content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058400" y="2971800"/>
            <a:ext cx="1676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39" name="Text 37"/>
          <p:cNvSpPr/>
          <p:nvPr/>
        </p:nvSpPr>
        <p:spPr>
          <a:xfrm>
            <a:off x="10058400" y="3611880"/>
            <a:ext cx="16760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TABLE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241280" y="3977640"/>
            <a:ext cx="13103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241280" y="4133088"/>
            <a:ext cx="131033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241280" y="4343400"/>
            <a:ext cx="1310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doc_chunks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Azure AI Search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 index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(sidecar)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5486400"/>
            <a:ext cx="11277295" cy="7772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532120"/>
            <a:ext cx="28193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457200" y="5943600"/>
            <a:ext cx="2819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Delta Tables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276524" y="5532120"/>
            <a:ext cx="28193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276524" y="5943600"/>
            <a:ext cx="2819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Parquet Format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095848" y="5532120"/>
            <a:ext cx="28193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DirectLake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6095848" y="5943600"/>
            <a:ext cx="2819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Zero-Copy Semantic Reads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915171" y="5532120"/>
            <a:ext cx="28193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8915171" y="5943600"/>
            <a:ext cx="2819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Guarantees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+ governed business logic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6858000" cy="4297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65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 •  4 facts  +  6 dimensions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8960" y="3227832"/>
            <a:ext cx="1554480" cy="36576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/>
          <p:nvPr/>
        </p:nvSpPr>
        <p:spPr>
          <a:xfrm>
            <a:off x="3108960" y="32278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fact_claims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08960" y="3666744"/>
            <a:ext cx="1554480" cy="36576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36667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fact_premiums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08960" y="4105656"/>
            <a:ext cx="1554480" cy="36576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41056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fact_investments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08960" y="4544568"/>
            <a:ext cx="1554480" cy="36576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4544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743200"/>
            <a:ext cx="137160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94560" y="2926080"/>
            <a:ext cx="9144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474720"/>
            <a:ext cx="137160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94560" y="3657600"/>
            <a:ext cx="9144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206240"/>
            <a:ext cx="137160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206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dim_advisor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194560" y="4389120"/>
            <a:ext cx="9144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77840" y="2743200"/>
            <a:ext cx="137160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77840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dim_policy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2926080"/>
            <a:ext cx="9144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77840" y="3474720"/>
            <a:ext cx="137160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7784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3657600"/>
            <a:ext cx="9144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77840" y="4206240"/>
            <a:ext cx="137160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77840" y="4206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dim_fund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4389120"/>
            <a:ext cx="9144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89520" y="1828800"/>
            <a:ext cx="4160520" cy="4297680"/>
          </a:xfrm>
          <a:prstGeom prst="rect">
            <a:avLst/>
          </a:prstGeom>
          <a:solidFill>
            <a:srgbClr val="0F1729"/>
          </a:solidFill>
          <a:ln/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863840" y="205740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 MEASURE  EXAMPLE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863840" y="237744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 for every metric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863840" y="288036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 Approval Rate =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863840" y="313639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DIVIDE(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863840" y="339242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CALCULATE(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863840" y="364845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COUNTROWS( fact_claims ),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863840" y="39044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fact_claims[status] = "Approved"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863840" y="41605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),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863840" y="441655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COUNTROWS( fact_claims )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863840" y="467258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863840" y="5486400"/>
            <a:ext cx="361188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863840" y="56235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14 measures  ·  same definition for Power BI, Excel, Data Agent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630936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Agent never queries raw tables — it queries measures. That's how we keep answers consistent and governable.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DATASET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Canadian insurance &amp; wealth data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4000" y="1920240"/>
            <a:ext cx="2697480" cy="18745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28320" y="2194560"/>
            <a:ext cx="502920" cy="502920"/>
          </a:xfrm>
          <a:prstGeom prst="ellipse">
            <a:avLst/>
          </a:prstGeom>
          <a:solidFill>
            <a:srgbClr val="0078D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760" y="228600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2680" y="21031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28320" y="2834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28320" y="31272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 insurance customers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316072" y="1920240"/>
            <a:ext cx="2697480" cy="18745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90392" y="2194560"/>
            <a:ext cx="502920" cy="502920"/>
          </a:xfrm>
          <a:prstGeom prst="ellipse">
            <a:avLst/>
          </a:prstGeom>
          <a:solidFill>
            <a:srgbClr val="742774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832" y="2286000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84752" y="21031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391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3590392" y="2834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590392" y="31272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Health, Auto, Home, Travel, Disability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178144" y="1920240"/>
            <a:ext cx="2697480" cy="18745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52464" y="219456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904" y="228600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046824" y="21031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3000" dirty="0"/>
          </a:p>
        </p:txBody>
      </p:sp>
      <p:sp>
        <p:nvSpPr>
          <p:cNvPr id="23" name="Text 18"/>
          <p:cNvSpPr/>
          <p:nvPr/>
        </p:nvSpPr>
        <p:spPr>
          <a:xfrm>
            <a:off x="6452464" y="2834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452464" y="31272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 approved, ~20% denied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040216" y="1920240"/>
            <a:ext cx="2697480" cy="18745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314536" y="2194560"/>
            <a:ext cx="502920" cy="502920"/>
          </a:xfrm>
          <a:prstGeom prst="ellipse">
            <a:avLst/>
          </a:prstGeom>
          <a:solidFill>
            <a:srgbClr val="00A758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228600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908896" y="21031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3000" dirty="0"/>
          </a:p>
        </p:txBody>
      </p:sp>
      <p:sp>
        <p:nvSpPr>
          <p:cNvPr id="29" name="Text 23"/>
          <p:cNvSpPr/>
          <p:nvPr/>
        </p:nvSpPr>
        <p:spPr>
          <a:xfrm>
            <a:off x="9314536" y="2834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314536" y="31272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Insurance, Investment, Annuity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54000" y="3959352"/>
            <a:ext cx="2697480" cy="18745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728320" y="4233672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760" y="4325112"/>
            <a:ext cx="320040" cy="320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22680" y="41422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3000" dirty="0"/>
          </a:p>
        </p:txBody>
      </p:sp>
      <p:sp>
        <p:nvSpPr>
          <p:cNvPr id="35" name="Text 28"/>
          <p:cNvSpPr/>
          <p:nvPr/>
        </p:nvSpPr>
        <p:spPr>
          <a:xfrm>
            <a:off x="728320" y="48737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INVESTMENTS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728320" y="51663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Equity, Bond, Balanced, MM, Real Estate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3316072" y="3959352"/>
            <a:ext cx="2697480" cy="18745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3590392" y="4233672"/>
            <a:ext cx="502920" cy="502920"/>
          </a:xfrm>
          <a:prstGeom prst="ellipse">
            <a:avLst/>
          </a:prstGeom>
          <a:solidFill>
            <a:srgbClr val="005A9E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1832" y="4325112"/>
            <a:ext cx="320040" cy="32004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4184752" y="41422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5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000" dirty="0"/>
          </a:p>
        </p:txBody>
      </p:sp>
      <p:sp>
        <p:nvSpPr>
          <p:cNvPr id="41" name="Text 33"/>
          <p:cNvSpPr/>
          <p:nvPr/>
        </p:nvSpPr>
        <p:spPr>
          <a:xfrm>
            <a:off x="3590392" y="48737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3590392" y="51663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 Canadian regions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6178144" y="3959352"/>
            <a:ext cx="2697480" cy="18745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6452464" y="4233672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3904" y="4325112"/>
            <a:ext cx="320040" cy="32004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7046824" y="41422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sz="3000" dirty="0"/>
          </a:p>
        </p:txBody>
      </p:sp>
      <p:sp>
        <p:nvSpPr>
          <p:cNvPr id="47" name="Text 38"/>
          <p:cNvSpPr/>
          <p:nvPr/>
        </p:nvSpPr>
        <p:spPr>
          <a:xfrm>
            <a:off x="6452464" y="48737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6452464" y="51663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payouts, purchases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9040216" y="3959352"/>
            <a:ext cx="2697480" cy="187452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9314536" y="4233672"/>
            <a:ext cx="502920" cy="502920"/>
          </a:xfrm>
          <a:prstGeom prst="ellipse">
            <a:avLst/>
          </a:prstGeom>
          <a:solidFill>
            <a:srgbClr val="1A2340"/>
          </a:solidFill>
          <a:ln/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5976" y="4325112"/>
            <a:ext cx="320040" cy="320040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9908896" y="41422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53" name="Text 43"/>
          <p:cNvSpPr/>
          <p:nvPr/>
        </p:nvSpPr>
        <p:spPr>
          <a:xfrm>
            <a:off x="9314536" y="48737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9314536" y="51663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Terms, guidelines, FAQs, reports</a:t>
            </a:r>
            <a:endParaRPr lang="en-US" sz="1000" dirty="0"/>
          </a:p>
        </p:txBody>
      </p:sp>
      <p:sp>
        <p:nvSpPr>
          <p:cNvPr id="55" name="Text 45"/>
          <p:cNvSpPr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designed to mirror real Manulife schemas — no PII, but enough realism to validate every architectural pattern.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query modes over one governed model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5541264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74520"/>
            <a:ext cx="5541264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057400"/>
            <a:ext cx="5084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 Q&amp;A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377440"/>
            <a:ext cx="502920" cy="502920"/>
          </a:xfrm>
          <a:prstGeom prst="ellipse">
            <a:avLst/>
          </a:prstGeom>
          <a:solidFill>
            <a:srgbClr val="0078D4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6888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25880" y="2377440"/>
            <a:ext cx="4535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" y="2971800"/>
            <a:ext cx="5084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 resolved against the semantic model — measures and dimensions, never raw SQL.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5800" y="3566160"/>
            <a:ext cx="6217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566160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353312" y="356616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517904" y="3566160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18" name="Text 15"/>
          <p:cNvSpPr/>
          <p:nvPr/>
        </p:nvSpPr>
        <p:spPr>
          <a:xfrm>
            <a:off x="1517904" y="35661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resolve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569464" y="356616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734056" y="3566160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21" name="Text 18"/>
          <p:cNvSpPr/>
          <p:nvPr/>
        </p:nvSpPr>
        <p:spPr>
          <a:xfrm>
            <a:off x="2734056" y="356616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query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456432" y="356616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621024" y="3566160"/>
            <a:ext cx="457200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24" name="Text 21"/>
          <p:cNvSpPr/>
          <p:nvPr/>
        </p:nvSpPr>
        <p:spPr>
          <a:xfrm>
            <a:off x="3621024" y="35661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85800" y="4023360"/>
            <a:ext cx="5084064" cy="141732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26" name="Shape 23"/>
          <p:cNvSpPr/>
          <p:nvPr/>
        </p:nvSpPr>
        <p:spPr>
          <a:xfrm>
            <a:off x="822960" y="4160520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7" name="Shape 24"/>
          <p:cNvSpPr/>
          <p:nvPr/>
        </p:nvSpPr>
        <p:spPr>
          <a:xfrm>
            <a:off x="987552" y="4160520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Shape 25"/>
          <p:cNvSpPr/>
          <p:nvPr/>
        </p:nvSpPr>
        <p:spPr>
          <a:xfrm>
            <a:off x="1152144" y="416052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407408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"Approval rate by region for Health claims"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22960" y="4599432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resolves measure  [Claim Approval Rate]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2960" y="4791456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groupBy            dim_advisor.region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22960" y="4983480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filter             dim_product.line = 'Health'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822960" y="5175504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returns            5-row table  +  bar chart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85800" y="5532120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85800" y="5696712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Agent  ·  Power BI Semantic Model  ·  Azure OpenAI  ·  DAX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190488" y="1874520"/>
            <a:ext cx="5541264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190488" y="1874520"/>
            <a:ext cx="5541264" cy="73152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38" name="Text 35"/>
          <p:cNvSpPr/>
          <p:nvPr/>
        </p:nvSpPr>
        <p:spPr>
          <a:xfrm>
            <a:off x="6419088" y="2057400"/>
            <a:ext cx="5084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 Q&amp;A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6419088" y="2377440"/>
            <a:ext cx="502920" cy="502920"/>
          </a:xfrm>
          <a:prstGeom prst="ellipse">
            <a:avLst/>
          </a:prstGeom>
          <a:solidFill>
            <a:srgbClr val="742774"/>
          </a:solidFill>
          <a:ln/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468880"/>
            <a:ext cx="320040" cy="32004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059168" y="2377440"/>
            <a:ext cx="4535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Grounding (RAG)</a:t>
            </a:r>
            <a:endParaRPr lang="en-US" sz="1800" dirty="0"/>
          </a:p>
        </p:txBody>
      </p:sp>
      <p:sp>
        <p:nvSpPr>
          <p:cNvPr id="42" name="Text 38"/>
          <p:cNvSpPr/>
          <p:nvPr/>
        </p:nvSpPr>
        <p:spPr>
          <a:xfrm>
            <a:off x="6419088" y="2971800"/>
            <a:ext cx="5084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 answered from enterprise documents with retrieved, cited passages — no hallucination.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6419088" y="3566160"/>
            <a:ext cx="6217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44" name="Text 40"/>
          <p:cNvSpPr/>
          <p:nvPr/>
        </p:nvSpPr>
        <p:spPr>
          <a:xfrm>
            <a:off x="6419088" y="3566160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7086600" y="356616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7251192" y="3566160"/>
            <a:ext cx="457200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47" name="Text 43"/>
          <p:cNvSpPr/>
          <p:nvPr/>
        </p:nvSpPr>
        <p:spPr>
          <a:xfrm>
            <a:off x="7251192" y="35661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48" name="Text 44"/>
          <p:cNvSpPr/>
          <p:nvPr/>
        </p:nvSpPr>
        <p:spPr>
          <a:xfrm>
            <a:off x="7754112" y="356616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7918704" y="3566160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50" name="Text 46"/>
          <p:cNvSpPr/>
          <p:nvPr/>
        </p:nvSpPr>
        <p:spPr>
          <a:xfrm>
            <a:off x="7918704" y="356616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8860536" y="356616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025128" y="3566160"/>
            <a:ext cx="841248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53" name="Text 49"/>
          <p:cNvSpPr/>
          <p:nvPr/>
        </p:nvSpPr>
        <p:spPr>
          <a:xfrm>
            <a:off x="9025128" y="3566160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</a:t>
            </a:r>
            <a:endParaRPr lang="en-US" sz="900" dirty="0"/>
          </a:p>
        </p:txBody>
      </p:sp>
      <p:sp>
        <p:nvSpPr>
          <p:cNvPr id="54" name="Shape 50"/>
          <p:cNvSpPr/>
          <p:nvPr/>
        </p:nvSpPr>
        <p:spPr>
          <a:xfrm>
            <a:off x="6419088" y="4023360"/>
            <a:ext cx="5084064" cy="141732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55" name="Shape 51"/>
          <p:cNvSpPr/>
          <p:nvPr/>
        </p:nvSpPr>
        <p:spPr>
          <a:xfrm>
            <a:off x="6556248" y="4160520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6" name="Shape 52"/>
          <p:cNvSpPr/>
          <p:nvPr/>
        </p:nvSpPr>
        <p:spPr>
          <a:xfrm>
            <a:off x="6720840" y="4160520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7" name="Shape 53"/>
          <p:cNvSpPr/>
          <p:nvPr/>
        </p:nvSpPr>
        <p:spPr>
          <a:xfrm>
            <a:off x="6885432" y="416052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8" name="Text 54"/>
          <p:cNvSpPr/>
          <p:nvPr/>
        </p:nvSpPr>
        <p:spPr>
          <a:xfrm>
            <a:off x="6556248" y="4407408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"What's the SLA for Health claims processing?"</a:t>
            </a:r>
            <a:endParaRPr lang="en-US" sz="1000" dirty="0"/>
          </a:p>
        </p:txBody>
      </p:sp>
      <p:sp>
        <p:nvSpPr>
          <p:cNvPr id="59" name="Text 55"/>
          <p:cNvSpPr/>
          <p:nvPr/>
        </p:nvSpPr>
        <p:spPr>
          <a:xfrm>
            <a:off x="6556248" y="4599432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embed query        text-embedding-3-large</a:t>
            </a:r>
            <a:endParaRPr lang="en-US" sz="1000" dirty="0"/>
          </a:p>
        </p:txBody>
      </p:sp>
      <p:sp>
        <p:nvSpPr>
          <p:cNvPr id="60" name="Text 56"/>
          <p:cNvSpPr/>
          <p:nvPr/>
        </p:nvSpPr>
        <p:spPr>
          <a:xfrm>
            <a:off x="6556248" y="4791456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top-3 chunks       claims_handbook.pdf  p.12, 14</a:t>
            </a:r>
            <a:endParaRPr lang="en-US" sz="1000" dirty="0"/>
          </a:p>
        </p:txBody>
      </p:sp>
      <p:sp>
        <p:nvSpPr>
          <p:cNvPr id="61" name="Text 57"/>
          <p:cNvSpPr/>
          <p:nvPr/>
        </p:nvSpPr>
        <p:spPr>
          <a:xfrm>
            <a:off x="6556248" y="4983480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rerank + ground    GPT-4o</a:t>
            </a:r>
            <a:endParaRPr lang="en-US" sz="1000" dirty="0"/>
          </a:p>
        </p:txBody>
      </p:sp>
      <p:sp>
        <p:nvSpPr>
          <p:cNvPr id="62" name="Text 58"/>
          <p:cNvSpPr/>
          <p:nvPr/>
        </p:nvSpPr>
        <p:spPr>
          <a:xfrm>
            <a:off x="6556248" y="5175504"/>
            <a:ext cx="4809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returns            answer + page citations</a:t>
            </a:r>
            <a:endParaRPr lang="en-US" sz="1000" dirty="0"/>
          </a:p>
        </p:txBody>
      </p:sp>
      <p:sp>
        <p:nvSpPr>
          <p:cNvPr id="63" name="Text 59"/>
          <p:cNvSpPr/>
          <p:nvPr/>
        </p:nvSpPr>
        <p:spPr>
          <a:xfrm>
            <a:off x="6419088" y="5532120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800" dirty="0"/>
          </a:p>
        </p:txBody>
      </p:sp>
      <p:sp>
        <p:nvSpPr>
          <p:cNvPr id="64" name="Text 60"/>
          <p:cNvSpPr/>
          <p:nvPr/>
        </p:nvSpPr>
        <p:spPr>
          <a:xfrm>
            <a:off x="6419088" y="5696712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 ·  OpenAI Embeddings  ·  GPT-4o  ·  Citations</a:t>
            </a:r>
            <a:endParaRPr lang="en-US" sz="1000" dirty="0"/>
          </a:p>
        </p:txBody>
      </p:sp>
      <p:sp>
        <p:nvSpPr>
          <p:cNvPr id="65" name="Shape 61"/>
          <p:cNvSpPr/>
          <p:nvPr/>
        </p:nvSpPr>
        <p:spPr>
          <a:xfrm>
            <a:off x="457200" y="6144768"/>
            <a:ext cx="11277295" cy="36576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66" name="Text 62"/>
          <p:cNvSpPr/>
          <p:nvPr/>
        </p:nvSpPr>
        <p:spPr>
          <a:xfrm>
            <a:off x="457200" y="6144768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modes inherit RLS, RBAC, and audit from the semantic + storage layer  ·  answers are governed and traceable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queries, increasing complexity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548640" cy="7772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74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05840" y="1874520"/>
            <a:ext cx="155448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874520"/>
            <a:ext cx="49377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19385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many active customers do we have?"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22860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measure, no slicing — establishes baseline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89520" y="1874520"/>
            <a:ext cx="4144975" cy="7772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15" name="Shape 13"/>
          <p:cNvSpPr/>
          <p:nvPr/>
        </p:nvSpPr>
        <p:spPr>
          <a:xfrm>
            <a:off x="7589520" y="1874520"/>
            <a:ext cx="54864" cy="7772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1947672"/>
            <a:ext cx="3779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0" y="2121408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[Active Customer Count]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0" y="2377440"/>
            <a:ext cx="37792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measure  ·  0 dims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724912"/>
            <a:ext cx="548640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724912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005840" y="2724912"/>
            <a:ext cx="155448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72491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0" y="2724912"/>
            <a:ext cx="49377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0" y="27889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claims by policy type and region"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0" y="3136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Two-dimensional slice with auto-chart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589520" y="2724912"/>
            <a:ext cx="4144975" cy="7772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2724912"/>
            <a:ext cx="54864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0" y="2798064"/>
            <a:ext cx="3779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772400" y="297180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[Approved Claims Amount]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0" y="3227832"/>
            <a:ext cx="37792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  dim_product.line × dim_advisor.region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3575304"/>
            <a:ext cx="548640" cy="77724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575304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33" name="Shape 31"/>
          <p:cNvSpPr/>
          <p:nvPr/>
        </p:nvSpPr>
        <p:spPr>
          <a:xfrm>
            <a:off x="1005840" y="3575304"/>
            <a:ext cx="155448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4" name="Text 32"/>
          <p:cNvSpPr/>
          <p:nvPr/>
        </p:nvSpPr>
        <p:spPr>
          <a:xfrm>
            <a:off x="1005840" y="35753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560320" y="3575304"/>
            <a:ext cx="49377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0" y="36393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advisors have the highest AUM?"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43200" y="398678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ranking with implicit aggregation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589520" y="3575304"/>
            <a:ext cx="4144975" cy="7772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7589520" y="3575304"/>
            <a:ext cx="54864" cy="77724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0" y="3648456"/>
            <a:ext cx="3779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772400" y="3822192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TOPN( 5, [Total AUM] 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72400" y="4078224"/>
            <a:ext cx="37792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42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  dim_advisor.name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425696"/>
            <a:ext cx="548640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425696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45" name="Shape 43"/>
          <p:cNvSpPr/>
          <p:nvPr/>
        </p:nvSpPr>
        <p:spPr>
          <a:xfrm>
            <a:off x="1005840" y="4425696"/>
            <a:ext cx="155448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6" name="Text 44"/>
          <p:cNvSpPr/>
          <p:nvPr/>
        </p:nvSpPr>
        <p:spPr>
          <a:xfrm>
            <a:off x="1005840" y="442569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560320" y="4425696"/>
            <a:ext cx="49377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0" y="44897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the monthly premium trend?"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743200" y="48371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via dim_date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589520" y="4425696"/>
            <a:ext cx="4144975" cy="7772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51" name="Shape 49"/>
          <p:cNvSpPr/>
          <p:nvPr/>
        </p:nvSpPr>
        <p:spPr>
          <a:xfrm>
            <a:off x="7589520" y="4425696"/>
            <a:ext cx="54864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2" name="Text 50"/>
          <p:cNvSpPr/>
          <p:nvPr/>
        </p:nvSpPr>
        <p:spPr>
          <a:xfrm>
            <a:off x="7772400" y="4498848"/>
            <a:ext cx="3779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772400" y="4672584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[Total Premium Revenue]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772400" y="4928616"/>
            <a:ext cx="37792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  dim_date.year_month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5276088"/>
            <a:ext cx="548640" cy="777240"/>
          </a:xfrm>
          <a:prstGeom prst="rect">
            <a:avLst/>
          </a:prstGeom>
          <a:solidFill>
            <a:srgbClr val="00A758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" y="5276088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57" name="Shape 55"/>
          <p:cNvSpPr/>
          <p:nvPr/>
        </p:nvSpPr>
        <p:spPr>
          <a:xfrm>
            <a:off x="1005840" y="5276088"/>
            <a:ext cx="155448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8" name="Text 56"/>
          <p:cNvSpPr/>
          <p:nvPr/>
        </p:nvSpPr>
        <p:spPr>
          <a:xfrm>
            <a:off x="1005840" y="527608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560320" y="5276088"/>
            <a:ext cx="49377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743200" y="53400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Health claims and the relevant policy guideline"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2743200" y="56875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+ RAG converge in one response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589520" y="5276088"/>
            <a:ext cx="4144975" cy="7772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63" name="Shape 61"/>
          <p:cNvSpPr/>
          <p:nvPr/>
        </p:nvSpPr>
        <p:spPr>
          <a:xfrm>
            <a:off x="7589520" y="5276088"/>
            <a:ext cx="54864" cy="777240"/>
          </a:xfrm>
          <a:prstGeom prst="rect">
            <a:avLst/>
          </a:prstGeom>
          <a:solidFill>
            <a:srgbClr val="00A758"/>
          </a:solidFill>
          <a:ln/>
        </p:spPr>
      </p:sp>
      <p:sp>
        <p:nvSpPr>
          <p:cNvPr id="64" name="Text 62"/>
          <p:cNvSpPr/>
          <p:nvPr/>
        </p:nvSpPr>
        <p:spPr>
          <a:xfrm>
            <a:off x="7772400" y="5349240"/>
            <a:ext cx="3779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772400" y="5522976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[Claim Approval Rate]  +  RAG()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7772400" y="5779008"/>
            <a:ext cx="37792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A7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 → claims_handbook.pdf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57200" y="635508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5 is the architecture stress-test  ·  semantic model + RAG + orchestration converged in one response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FABRIC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reasons this stack fits Manulife's posture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80848" y="1874520"/>
            <a:ext cx="5623560" cy="205740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6608" y="21488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746608" y="3154680"/>
            <a:ext cx="36576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0" name="Text 8"/>
          <p:cNvSpPr/>
          <p:nvPr/>
        </p:nvSpPr>
        <p:spPr>
          <a:xfrm>
            <a:off x="2118208" y="21945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platform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18208" y="265176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BI, data engineering, data science, and AI in one product — not stitched together from four vendors. Fewer integration seams to break.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7288" y="1874520"/>
            <a:ext cx="5623560" cy="205740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53048" y="21488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14" name="Shape 12"/>
          <p:cNvSpPr/>
          <p:nvPr/>
        </p:nvSpPr>
        <p:spPr>
          <a:xfrm>
            <a:off x="6553048" y="3154680"/>
            <a:ext cx="3657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7924648" y="21945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— single copy of data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924648" y="265176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Delta Parquet, governed at the lake level. Same data serves dashboards, notebooks, ML, and the Data Agent. No duplication, no drift.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0848" y="4114800"/>
            <a:ext cx="5623560" cy="205740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6608" y="4389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19" name="Shape 17"/>
          <p:cNvSpPr/>
          <p:nvPr/>
        </p:nvSpPr>
        <p:spPr>
          <a:xfrm>
            <a:off x="746608" y="5394960"/>
            <a:ext cx="365760" cy="54864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20" name="Text 18"/>
          <p:cNvSpPr/>
          <p:nvPr/>
        </p:nvSpPr>
        <p:spPr>
          <a:xfrm>
            <a:off x="2118208" y="44348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DirectLake performance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118208" y="489204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models read delta tables directly — import-mode speed without an import step. Dashboards stay fresh as the lake updates.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7288" y="4114800"/>
            <a:ext cx="5623560" cy="205740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53048" y="4389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800" dirty="0"/>
          </a:p>
        </p:txBody>
      </p:sp>
      <p:sp>
        <p:nvSpPr>
          <p:cNvPr id="24" name="Shape 22"/>
          <p:cNvSpPr/>
          <p:nvPr/>
        </p:nvSpPr>
        <p:spPr>
          <a:xfrm>
            <a:off x="6553048" y="5394960"/>
            <a:ext cx="365760" cy="54864"/>
          </a:xfrm>
          <a:prstGeom prst="rect">
            <a:avLst/>
          </a:prstGeom>
          <a:solidFill>
            <a:srgbClr val="00A758"/>
          </a:solidFill>
          <a:ln/>
        </p:spPr>
      </p:sp>
      <p:sp>
        <p:nvSpPr>
          <p:cNvPr id="25" name="Text 23"/>
          <p:cNvSpPr/>
          <p:nvPr/>
        </p:nvSpPr>
        <p:spPr>
          <a:xfrm>
            <a:off x="7924648" y="44348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as a first-class surface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924648" y="489204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is built into Fabric, not bolted on. Microsoft's investment trajectory here is the strongest in the market.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reasons add up to lower TCO, faster time-to-value, and a smaller team to run it.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54864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54864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508760" y="54864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54864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48840" y="54864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54864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788920" y="54864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86868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86868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86868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08760" y="86868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86868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148840" y="86868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86868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788920" y="86868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118872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68680" y="118872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88720" y="118872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08760" y="118872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28800" y="118872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148840" y="118872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468880" y="118872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88920" y="118872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" y="150876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68680" y="150876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88720" y="150876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08760" y="150876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828800" y="150876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148840" y="150876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68880" y="150876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788920" y="150876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182880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" y="182880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88720" y="182880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508760" y="182880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828800" y="182880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148840" y="182880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468880" y="182880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788920" y="1828800"/>
            <a:ext cx="45720" cy="45720"/>
          </a:xfrm>
          <a:prstGeom prst="ellipse">
            <a:avLst/>
          </a:prstGeom>
          <a:solidFill>
            <a:srgbClr val="06B6D4">
              <a:alpha val="3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0080" y="2606040"/>
            <a:ext cx="54864" cy="9144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2560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14400" y="29718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8000" dirty="0"/>
          </a:p>
        </p:txBody>
      </p:sp>
      <p:sp>
        <p:nvSpPr>
          <p:cNvPr id="45" name="Text 43"/>
          <p:cNvSpPr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discussion.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14400" y="5394960"/>
            <a:ext cx="2743200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Account Team  •  Fabric Specialists  •  FastTrack Engineering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Manulife POC Engagement  —  May 2026  —  Confidential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132320" y="2194560"/>
            <a:ext cx="36576" cy="4114800"/>
          </a:xfrm>
          <a:prstGeom prst="rect">
            <a:avLst/>
          </a:prstGeom>
          <a:solidFill>
            <a:srgbClr val="06B6D4">
              <a:alpha val="6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7406640" y="21945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 WE  COVERED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406640" y="2697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8001000" y="26791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architecture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001000" y="29535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foundation · semantic trust layer · two-mode access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406640" y="33558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001000" y="33375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00100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delta tables  ·  medallion + docs  ·  open Delta Parquet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406640" y="40142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001000" y="39959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model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001000" y="427024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 ·  14 DAX measures  ·  one governed contract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406640" y="46725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001000" y="465429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access — two modes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001000" y="492861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(NL → DAX)  +  RAG (cited answers)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06640" y="533095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001000" y="531266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001000" y="55869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queries  ·  proved the full architecture end-to-end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57200" y="256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 ×  Manulife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911535" y="64465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Manulife × Microsoft Fabric POC</dc:title>
  <dc:subject>PptxGenJS Presentation</dc:subject>
  <dc:creator>Microsoft</dc:creator>
  <cp:lastModifiedBy>Microsoft</cp:lastModifiedBy>
  <cp:revision>1</cp:revision>
  <dcterms:created xsi:type="dcterms:W3CDTF">2026-05-10T19:31:10Z</dcterms:created>
  <dcterms:modified xsi:type="dcterms:W3CDTF">2026-05-10T19:31:10Z</dcterms:modified>
</cp:coreProperties>
</file>