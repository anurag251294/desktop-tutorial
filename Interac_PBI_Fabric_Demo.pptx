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017520"/>
            <a:ext cx="914400" cy="914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Power BI on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HR Analytics Demo for Interac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CD3DE"/>
                </a:solidFill>
                <a:latin typeface="Segoe UI"/>
              </a:rPr>
              <a:t>OSFI / FINTRAC-aware workforce insights, in Direct 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B"/>
                </a:solidFill>
                <a:latin typeface="Segoe UI"/>
              </a:rPr>
              <a:t>Microsoft Canada | Frontier Transformation - Financial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What we will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Objectives and success criteria</a:t>
            </a:r>
            <a:r>
              <a:rPr sz="1500">
                <a:solidFill>
                  <a:srgbClr val="5A6B82"/>
                </a:solidFill>
                <a:latin typeface="Segoe UI"/>
              </a:rPr>
              <a:t>  — Align on what "good" looks like for this evaluation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Power BI on Fabric - capabilities</a:t>
            </a:r>
            <a:r>
              <a:rPr sz="1500">
                <a:solidFill>
                  <a:srgbClr val="5A6B82"/>
                </a:solidFill>
                <a:latin typeface="Segoe UI"/>
              </a:rPr>
              <a:t>  — Direct Lake, OneLake, governance, Copilot, Data Agent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HR demo (synthetic Interac data)</a:t>
            </a:r>
            <a:r>
              <a:rPr sz="1500">
                <a:solidFill>
                  <a:srgbClr val="5A6B82"/>
                </a:solidFill>
                <a:latin typeface="Segoe UI"/>
              </a:rPr>
              <a:t>  — Active employees, attrition, FINTRAC training, COI attestations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RLS and persona views</a:t>
            </a:r>
            <a:r>
              <a:rPr sz="1500">
                <a:solidFill>
                  <a:srgbClr val="5A6B82"/>
                </a:solidFill>
                <a:latin typeface="Segoe UI"/>
              </a:rPr>
              <a:t>  — HR Business Partner / People Manager / Compliance Officer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Copilot and Data Agent moments</a:t>
            </a:r>
            <a:r>
              <a:rPr sz="1500">
                <a:solidFill>
                  <a:srgbClr val="5A6B82"/>
                </a:solidFill>
                <a:latin typeface="Segoe UI"/>
              </a:rPr>
              <a:t>  — Natural-language questions on the live model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1B2C5C"/>
                </a:solidFill>
                <a:latin typeface="Segoe UI"/>
              </a:rPr>
              <a:t>•  Deployment, licensing, and roadmap</a:t>
            </a:r>
            <a:r>
              <a:rPr sz="1500">
                <a:solidFill>
                  <a:srgbClr val="5A6B82"/>
                </a:solidFill>
                <a:latin typeface="Segoe UI"/>
              </a:rPr>
              <a:t>  — From demo to production at Interac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Why this matters for Interac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Regulated workforce data, demanding stewardship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B2C5C"/>
                </a:solidFill>
                <a:latin typeface="Segoe UI"/>
              </a:rPr>
              <a:t>•  OSFI E-21 expectations</a:t>
            </a:r>
            <a:r>
              <a:rPr sz="1300">
                <a:solidFill>
                  <a:srgbClr val="5A6B82"/>
                </a:solidFill>
                <a:latin typeface="Segoe UI"/>
              </a:rPr>
              <a:t>  — Sound operational-risk management requires timely workforce visibility for critical-function roles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1B2C5C"/>
                </a:solidFill>
                <a:latin typeface="Segoe UI"/>
              </a:rPr>
              <a:t>•  FINTRAC training compliance</a:t>
            </a:r>
            <a:r>
              <a:rPr sz="1300">
                <a:solidFill>
                  <a:srgbClr val="5A6B82"/>
                </a:solidFill>
                <a:latin typeface="Segoe UI"/>
              </a:rPr>
              <a:t>  — Mandatory training completion across regulated employees - audit trail and timely attestation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1B2C5C"/>
                </a:solidFill>
                <a:latin typeface="Segoe UI"/>
              </a:rPr>
              <a:t>•  Conflict-of-interest attestations</a:t>
            </a:r>
            <a:r>
              <a:rPr sz="1300">
                <a:solidFill>
                  <a:srgbClr val="5A6B82"/>
                </a:solidFill>
                <a:latin typeface="Segoe UI"/>
              </a:rPr>
              <a:t>  — COI overdue &gt;90 days is a regulator-visible risk indicator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1B2C5C"/>
                </a:solidFill>
                <a:latin typeface="Segoe UI"/>
              </a:rPr>
              <a:t>•  Talent risk in Tech and Risk</a:t>
            </a:r>
            <a:r>
              <a:rPr sz="1300">
                <a:solidFill>
                  <a:srgbClr val="5A6B82"/>
                </a:solidFill>
                <a:latin typeface="Segoe UI"/>
              </a:rPr>
              <a:t>  — Regrettable attrition concentrated in mission-critical functions - early-warning needed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1B2C5C"/>
                </a:solidFill>
                <a:latin typeface="Segoe UI"/>
              </a:rPr>
              <a:t>•  Operating model</a:t>
            </a:r>
            <a:r>
              <a:rPr sz="1300">
                <a:solidFill>
                  <a:srgbClr val="5A6B82"/>
                </a:solidFill>
                <a:latin typeface="Segoe UI"/>
              </a:rPr>
              <a:t>  — HR / Risk / Tech leadership want one trusted source - not 6 spreadsheets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Direct Lake on OneLake + semantic model + Copilot + Data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3160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Consumption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3160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Copilot in Power BI  |  HR Dashboard  |  Fabric Data Agent  |  Teams /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9144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8316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Semantic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8316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hr_demo (Direct Lake on OneLake) - 8 KPIs, 22 measures, 3 RLS roles, Copilot example 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9144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3472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OneLake (Delta)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3472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dim_date, dim_department, dim_employee, dim_location, dim_role, 6 fact tables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solidFill>
            <a:srgbClr val="4F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8628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Source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586280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Synthetic Interac HR data - 1000 employees, OSFI / FINTRAC overlay - SEED=20260524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Zero data movement at query time. Copilot resolves natural language directly against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Live numbers from the demo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8 KPIs with traffic-light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899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Active Employees vs 1,000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14.5%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240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Attrition Rate LTM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06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22.5%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Regrettable Attrition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06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0876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07752"/>
                </a:solidFill>
                <a:latin typeface="Segoe UI"/>
              </a:rPr>
              <a:t>96.3%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40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FINTRAC Training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06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07752"/>
                </a:solidFill>
                <a:latin typeface="Segoe UI"/>
              </a:rPr>
              <a:t>GREEN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03A2B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COI Overdue 90+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03A2B"/>
                </a:solidFill>
                <a:latin typeface="Segoe UI"/>
              </a:rPr>
              <a:t>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29184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5204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251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Open Requisitions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617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29184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5204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68d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51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Avg Time to Fill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617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3291840"/>
            <a:ext cx="2743200" cy="18288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35204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C8A00"/>
                </a:solidFill>
                <a:latin typeface="Segoe UI"/>
              </a:rPr>
              <a:t>0.98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4251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B2C5C"/>
                </a:solidFill>
                <a:latin typeface="Segoe UI"/>
              </a:rPr>
              <a:t>Comp Ratio vs Market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617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C8A00"/>
                </a:solidFill>
                <a:latin typeface="Segoe UI"/>
              </a:rPr>
              <a:t>YELLOW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Segoe UI"/>
              </a:rPr>
              <a:t>Each KPI has a `kpi` TMDL block with traffic-light status against an explicit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Persona-led walkthrough on the live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HR Business Partner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0992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Open HR Dashboard - 8 KPIs, traffic lights, drill from total attrition to function and department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58568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1284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People Manager view (RLS)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5117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Same report, View As role = People Manager - only the manager's team is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08376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99816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Compliance Officer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9242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View As Compliance Officer - filtered to Risk &amp; Compliance function for COI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9624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9534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Copilot - exec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2336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Click Copilot, ask "summarize this page" - get narrative across all 8 KPIs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90872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82312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365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Copilot - COI 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0749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"Which departments have COI attestations overdue 90+ days?" - returns table +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8220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577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B2C5C"/>
                </a:solidFill>
                <a:latin typeface="Segoe UI"/>
              </a:rPr>
              <a:t>Data Agent - Teams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161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Same questions answered inside Teams via the Fabric Data Agent - bot-style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Copilot and Data Agent on the same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Two surfaces, one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51206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Segoe UI"/>
              </a:rPr>
              <a:t>Copilot in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Inside the report</a:t>
            </a:r>
            <a:r>
              <a:rPr sz="1100">
                <a:solidFill>
                  <a:srgbClr val="5A6B82"/>
                </a:solidFill>
                <a:latin typeface="Segoe UI"/>
              </a:rPr>
              <a:t>  — Summarize, Q&amp;A, Smart Narrative, Find Insights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Author and consume</a:t>
            </a:r>
            <a:r>
              <a:rPr sz="1100">
                <a:solidFill>
                  <a:srgbClr val="5A6B82"/>
                </a:solidFill>
                <a:latin typeface="Segoe UI"/>
              </a:rPr>
              <a:t>  — Same surface for the analyst and the executive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Grounded on the model</a:t>
            </a:r>
            <a:r>
              <a:rPr sz="1100">
                <a:solidFill>
                  <a:srgbClr val="5A6B82"/>
                </a:solidFill>
                <a:latin typeface="Segoe UI"/>
              </a:rPr>
              <a:t>  — No hallucinated DAX - measures from the semantic glossary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Example prompts</a:t>
            </a:r>
            <a:r>
              <a:rPr sz="1100">
                <a:solidFill>
                  <a:srgbClr val="5A6B82"/>
                </a:solidFill>
                <a:latin typeface="Segoe UI"/>
              </a:rPr>
              <a:t>  — examplePrompts.json shows starter questions to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86400" cy="512064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8220"/>
                </a:solidFill>
                <a:latin typeface="Segoe UI"/>
              </a:rPr>
              <a:t>Fabric Data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Outside the report</a:t>
            </a:r>
            <a:r>
              <a:rPr sz="1100">
                <a:solidFill>
                  <a:srgbClr val="5A6B82"/>
                </a:solidFill>
                <a:latin typeface="Segoe UI"/>
              </a:rPr>
              <a:t>  — Conversational answers in Teams, Outlook, Web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Same semantic model</a:t>
            </a:r>
            <a:r>
              <a:rPr sz="1100">
                <a:solidFill>
                  <a:srgbClr val="5A6B82"/>
                </a:solidFill>
                <a:latin typeface="Segoe UI"/>
              </a:rPr>
              <a:t>  — Reuses descriptions and synonyms - consistent answers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Async use cases</a:t>
            </a:r>
            <a:r>
              <a:rPr sz="1100">
                <a:solidFill>
                  <a:srgbClr val="5A6B82"/>
                </a:solidFill>
                <a:latin typeface="Segoe UI"/>
              </a:rPr>
              <a:t>  — Late-night exec checks, manager self-serve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1B2C5C"/>
                </a:solidFill>
                <a:latin typeface="Segoe UI"/>
              </a:rPr>
              <a:t>•  Governance carries through</a:t>
            </a:r>
            <a:r>
              <a:rPr sz="1100">
                <a:solidFill>
                  <a:srgbClr val="5A6B82"/>
                </a:solidFill>
                <a:latin typeface="Segoe UI"/>
              </a:rPr>
              <a:t>  — Sensitivity labels, RLS, audit log - same as PBI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Row-Level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Three roles, three persona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Segoe UI"/>
              </a:rPr>
              <a:t>HR Business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Reads all - org-wide HR analytics, executive view across functions and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modelPermission: read
(no row filter)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657600" cy="4937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Segoe UI"/>
              </a:rPr>
              <a:t>People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Sees self + direct reports only - based on the dim_employee[manager_id] link to USERPRINCIPALNAME().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tablePermission dim_employee =
  [manager_id] = USERPRINCIPALNAME()
  || [employee_id] = USERPRINCIPALNAME()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657600" cy="493776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08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8220"/>
                </a:solidFill>
                <a:latin typeface="Segoe UI"/>
              </a:rPr>
              <a:t>Compliance Officer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288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B2C5C"/>
                </a:solidFill>
                <a:latin typeface="Segoe UI"/>
              </a:rPr>
              <a:t>Filters to employees in the Risk &amp; Compliance function for COI and training oversight.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B82"/>
                </a:solidFill>
                <a:latin typeface="Segoe UI"/>
              </a:rPr>
              <a:t>tablePermission dim_employee =
  RELATED(dim_department[function])
  = "Risk &amp; Compliance"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Governance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Built for OSFI E-21 expectations and Interac internal stewardship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Data residency</a:t>
            </a:r>
            <a:r>
              <a:rPr sz="1200">
                <a:solidFill>
                  <a:srgbClr val="5A6B82"/>
                </a:solidFill>
                <a:latin typeface="Segoe UI"/>
              </a:rPr>
              <a:t>  — Canada-region Fabric capacity. All processing within Canadian boundary.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Sensitivity + Purview</a:t>
            </a:r>
            <a:r>
              <a:rPr sz="1200">
                <a:solidFill>
                  <a:srgbClr val="5A6B82"/>
                </a:solidFill>
                <a:latin typeface="Segoe UI"/>
              </a:rPr>
              <a:t>  — Sensitivity labels propagate from source to dataset, report, and Copilot answers.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RLS at the model level</a:t>
            </a:r>
            <a:r>
              <a:rPr sz="1200">
                <a:solidFill>
                  <a:srgbClr val="5A6B82"/>
                </a:solidFill>
                <a:latin typeface="Segoe UI"/>
              </a:rPr>
              <a:t>  — Persona filters enforced server-side, including Copilot and Data Agent surfaces.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Audit and lineage</a:t>
            </a:r>
            <a:r>
              <a:rPr sz="1200">
                <a:solidFill>
                  <a:srgbClr val="5A6B82"/>
                </a:solidFill>
                <a:latin typeface="Segoe UI"/>
              </a:rPr>
              <a:t>  — Fabric lineage view + M365 audit log - dataset, measure, and Copilot usage all logged.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Responsible AI</a:t>
            </a:r>
            <a:r>
              <a:rPr sz="1200">
                <a:solidFill>
                  <a:srgbClr val="5A6B82"/>
                </a:solidFill>
                <a:latin typeface="Segoe UI"/>
              </a:rPr>
              <a:t>  — Aligned with Microsoft Responsible AI Standard - groundedness, safety filters.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Change control</a:t>
            </a:r>
            <a:r>
              <a:rPr sz="1200">
                <a:solidFill>
                  <a:srgbClr val="5A6B82"/>
                </a:solidFill>
                <a:latin typeface="Segoe UI"/>
              </a:rPr>
              <a:t>  — Semantic model definition is git-tracked (TMDL via API) - PR-style review of measure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Deployment and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What's needed to take this live at Interac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Fabric capacity</a:t>
            </a:r>
            <a:r>
              <a:rPr sz="1200">
                <a:solidFill>
                  <a:srgbClr val="5A6B82"/>
                </a:solidFill>
                <a:latin typeface="Segoe UI"/>
              </a:rPr>
              <a:t>  — F-SKU on Canada region. Demo runs on a trial - production sizing based on concurrency and data volume.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Power BI Pro / PPU</a:t>
            </a:r>
            <a:r>
              <a:rPr sz="1200">
                <a:solidFill>
                  <a:srgbClr val="5A6B82"/>
                </a:solidFill>
                <a:latin typeface="Segoe UI"/>
              </a:rPr>
              <a:t>  — Pro for content authors and viewers; PPU if Direct Lake-on-SQL fallback is needed.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Copilot prerequisites</a:t>
            </a:r>
            <a:r>
              <a:rPr sz="1200">
                <a:solidFill>
                  <a:srgbClr val="5A6B82"/>
                </a:solidFill>
                <a:latin typeface="Segoe UI"/>
              </a:rPr>
              <a:t>  — Per-user Copilot for Microsoft 365 licensing or workspace-scoped Copilot via Fabric capacity.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Identity</a:t>
            </a:r>
            <a:r>
              <a:rPr sz="1200">
                <a:solidFill>
                  <a:srgbClr val="5A6B82"/>
                </a:solidFill>
                <a:latin typeface="Segoe UI"/>
              </a:rPr>
              <a:t>  — Entra ID groups for roles - HRBP, People Manager, Compliance Officer. SCIM provisioning ok.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Storage</a:t>
            </a:r>
            <a:r>
              <a:rPr sz="1200">
                <a:solidFill>
                  <a:srgbClr val="5A6B82"/>
                </a:solidFill>
                <a:latin typeface="Segoe UI"/>
              </a:rPr>
              <a:t>  — OneLake regional storage - same Canada geo as compute.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Networking</a:t>
            </a:r>
            <a:r>
              <a:rPr sz="1200">
                <a:solidFill>
                  <a:srgbClr val="5A6B82"/>
                </a:solidFill>
                <a:latin typeface="Segoe UI"/>
              </a:rPr>
              <a:t>  — Private Link supported. Service tags available for IP egress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Where this stack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GA today</a:t>
            </a:r>
            <a:r>
              <a:rPr sz="1200">
                <a:solidFill>
                  <a:srgbClr val="5A6B82"/>
                </a:solidFill>
                <a:latin typeface="Segoe UI"/>
              </a:rPr>
              <a:t>  — Direct Lake on OneLake, Copilot in PBI, Smart Narrative, Find Insights, RLS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Recent additions</a:t>
            </a:r>
            <a:r>
              <a:rPr sz="1200">
                <a:solidFill>
                  <a:srgbClr val="5A6B82"/>
                </a:solidFill>
                <a:latin typeface="Segoe UI"/>
              </a:rPr>
              <a:t>  — Fabric Data Agent GA, custom example prompts on semantic models, multi-turn Copilot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Near-term</a:t>
            </a:r>
            <a:r>
              <a:rPr sz="1200">
                <a:solidFill>
                  <a:srgbClr val="5A6B82"/>
                </a:solidFill>
                <a:latin typeface="Segoe UI"/>
              </a:rPr>
              <a:t>  — Workspace-scoped Copilot governance, custom instructions per role, cross-report grounding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Interac-specific opportunities</a:t>
            </a:r>
            <a:r>
              <a:rPr sz="1200">
                <a:solidFill>
                  <a:srgbClr val="5A6B82"/>
                </a:solidFill>
                <a:latin typeface="Segoe UI"/>
              </a:rPr>
              <a:t>  — Operational-risk Data Agent on OSFI E-21 metrics, Tier-1 risk scoring, vendor risk 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C5C"/>
                </a:solidFill>
                <a:latin typeface="Segoe U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B82"/>
                </a:solidFill>
                <a:latin typeface="Segoe UI"/>
              </a:rPr>
              <a:t>From demo to first pilot at Interac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6B82"/>
                </a:solidFill>
                <a:latin typeface="Segoe UI"/>
              </a:rPr>
              <a:t>Microsoft Canada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1</a:t>
            </a:r>
            <a:r>
              <a:rPr sz="1200">
                <a:solidFill>
                  <a:srgbClr val="5A6B82"/>
                </a:solidFill>
                <a:latin typeface="Segoe UI"/>
              </a:rPr>
              <a:t>  — Identify pilot data domain (HR, Risk, Operations) and 1 executive sponsor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2</a:t>
            </a:r>
            <a:r>
              <a:rPr sz="1200">
                <a:solidFill>
                  <a:srgbClr val="5A6B82"/>
                </a:solidFill>
                <a:latin typeface="Segoe UI"/>
              </a:rPr>
              <a:t>  — Stand up Fabric capacity in Canada region + provision pilot workspaces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3-4</a:t>
            </a:r>
            <a:r>
              <a:rPr sz="1200">
                <a:solidFill>
                  <a:srgbClr val="5A6B82"/>
                </a:solidFill>
                <a:latin typeface="Segoe UI"/>
              </a:rPr>
              <a:t>  — Build first production semantic model with measure descriptions + RLS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5-6</a:t>
            </a:r>
            <a:r>
              <a:rPr sz="1200">
                <a:solidFill>
                  <a:srgbClr val="5A6B82"/>
                </a:solidFill>
                <a:latin typeface="Segoe UI"/>
              </a:rPr>
              <a:t>  — Pilot users: 10-15 across HRBP / Manager / Compliance personas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7-8</a:t>
            </a:r>
            <a:r>
              <a:rPr sz="1200">
                <a:solidFill>
                  <a:srgbClr val="5A6B82"/>
                </a:solidFill>
                <a:latin typeface="Segoe UI"/>
              </a:rPr>
              <a:t>  — Wire Copilot + Data Agent, capture prompt patterns, refine examplePrompts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Week 9-12</a:t>
            </a:r>
            <a:r>
              <a:rPr sz="1200">
                <a:solidFill>
                  <a:srgbClr val="5A6B82"/>
                </a:solidFill>
                <a:latin typeface="Segoe UI"/>
              </a:rPr>
              <a:t>  — Governance attestation (OSFI mapping) and broader rollout plan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1B2C5C"/>
                </a:solidFill>
                <a:latin typeface="Segoe UI"/>
              </a:rPr>
              <a:t>•  Microsoft Canada support</a:t>
            </a:r>
            <a:r>
              <a:rPr sz="1200">
                <a:solidFill>
                  <a:srgbClr val="5A6B82"/>
                </a:solidFill>
                <a:latin typeface="Segoe UI"/>
              </a:rPr>
              <a:t>  — Engineering pairing, weekly office hours, Frontier Transformation engagement on roadmap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914400" cy="9144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CD3DE"/>
                </a:solidFill>
                <a:latin typeface="Segoe UI"/>
              </a:rPr>
              <a:t>Power BI + Fabric for Interac HR - what would you ask next?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8BB"/>
                </a:solidFill>
                <a:latin typeface="Segoe UI"/>
              </a:rPr>
              <a:t>anuragdh@microsoft.com  |  Microsoft Canada Data Specialist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