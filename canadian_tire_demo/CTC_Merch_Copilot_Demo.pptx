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017520"/>
            <a:ext cx="914400" cy="91440"/>
          </a:xfrm>
          <a:prstGeom prst="rect">
            <a:avLst/>
          </a:prstGeom>
          <a:solidFill>
            <a:srgbClr val="CA1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Segoe UI"/>
              </a:rPr>
              <a:t>Copilot in Power BI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Merch Performance Demo for Canadian Tire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CCD3DE"/>
                </a:solidFill>
                <a:latin typeface="Segoe UI"/>
              </a:rPr>
              <a:t>Natural-language insights for buyers and merchants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8BB"/>
                </a:solidFill>
                <a:latin typeface="Segoe UI"/>
              </a:rPr>
              <a:t>Microsoft Canada | Friday May 29, 2026 | M365CopilotEnablement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38100"/>
          </a:xfrm>
          <a:prstGeom prst="rect">
            <a:avLst/>
          </a:prstGeom>
          <a:solidFill>
            <a:srgbClr val="CA1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>
                <a:solidFill>
                  <a:srgbClr val="1B2C5C"/>
                </a:solidFill>
                <a:latin typeface="Segoe U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A6B82"/>
                </a:solidFill>
                <a:latin typeface="Segoe UI"/>
              </a:rPr>
              <a:t>What we will cover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228600"/>
            <a:ext cx="1554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A6B82"/>
                </a:solidFill>
                <a:latin typeface="Segoe UI"/>
              </a:rPr>
              <a:t>Microsoft Canada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1B2C5C"/>
                </a:solidFill>
                <a:latin typeface="Segoe UI"/>
              </a:rPr>
              <a:t>•  Why Copilot in Power BI</a:t>
            </a:r>
            <a:r>
              <a:rPr sz="1500" b="0">
                <a:solidFill>
                  <a:srgbClr val="5A6B82"/>
                </a:solidFill>
                <a:latin typeface="Segoe UI"/>
              </a:rPr>
              <a:t>  — How natural-language consumption fits CTC's Merch workflows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1B2C5C"/>
                </a:solidFill>
                <a:latin typeface="Segoe UI"/>
              </a:rPr>
              <a:t>•  How it works</a:t>
            </a:r>
            <a:r>
              <a:rPr sz="1500" b="0">
                <a:solidFill>
                  <a:srgbClr val="5A6B82"/>
                </a:solidFill>
                <a:latin typeface="Segoe UI"/>
              </a:rPr>
              <a:t>  — Direct Lake + semantic model with rich descriptions for accurate answers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1B2C5C"/>
                </a:solidFill>
                <a:latin typeface="Segoe UI"/>
              </a:rPr>
              <a:t>•  Live demo (Merch synthetic data)</a:t>
            </a:r>
            <a:r>
              <a:rPr sz="1500" b="0">
                <a:solidFill>
                  <a:srgbClr val="5A6B82"/>
                </a:solidFill>
                <a:latin typeface="Segoe UI"/>
              </a:rPr>
              <a:t>  — Sales, in-season demand, connected inventory across categories and SKUs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1B2C5C"/>
                </a:solidFill>
                <a:latin typeface="Segoe UI"/>
              </a:rPr>
              <a:t>•  Customer questions, answered</a:t>
            </a:r>
            <a:r>
              <a:rPr sz="1500" b="0">
                <a:solidFill>
                  <a:srgbClr val="5A6B82"/>
                </a:solidFill>
                <a:latin typeface="Segoe UI"/>
              </a:rPr>
              <a:t>  — Walking through prompts CTC prepared, live, in front of you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1B2C5C"/>
                </a:solidFill>
                <a:latin typeface="Segoe UI"/>
              </a:rPr>
              <a:t>•  Governance and roadmap</a:t>
            </a:r>
            <a:r>
              <a:rPr sz="1500" b="0">
                <a:solidFill>
                  <a:srgbClr val="5A6B82"/>
                </a:solidFill>
                <a:latin typeface="Segoe UI"/>
              </a:rPr>
              <a:t>  — PII handling, data residency, conversation retention, Purview DLP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1B2C5C"/>
                </a:solidFill>
                <a:latin typeface="Segoe UI"/>
              </a:rPr>
              <a:t>•  Next steps</a:t>
            </a:r>
            <a:r>
              <a:rPr sz="1500" b="0">
                <a:solidFill>
                  <a:srgbClr val="5A6B82"/>
                </a:solidFill>
                <a:latin typeface="Segoe UI"/>
              </a:rPr>
              <a:t>  — Path from this demo to enterprise rollout at Canadian Tire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38100"/>
          </a:xfrm>
          <a:prstGeom prst="rect">
            <a:avLst/>
          </a:prstGeom>
          <a:solidFill>
            <a:srgbClr val="CA1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>
                <a:solidFill>
                  <a:srgbClr val="1B2C5C"/>
                </a:solidFill>
                <a:latin typeface="Segoe UI"/>
              </a:rPr>
              <a:t>Who this is for, what it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A6B82"/>
                </a:solidFill>
                <a:latin typeface="Segoe UI"/>
              </a:rPr>
              <a:t>Built for the Merch buyer and analyst persona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228600"/>
            <a:ext cx="1554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A6B82"/>
                </a:solidFill>
                <a:latin typeface="Segoe UI"/>
              </a:rPr>
              <a:t>Microsoft Canada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5486400" cy="512064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A1A22"/>
                </a:solidFill>
                <a:latin typeface="Segoe UI"/>
              </a:rPr>
              <a:t>Audience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74519"/>
            <a:ext cx="51206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1B2C5C"/>
                </a:solidFill>
                <a:latin typeface="Segoe UI"/>
              </a:rPr>
              <a:t>•  Merch buyers and analysts</a:t>
            </a:r>
            <a:r>
              <a:rPr sz="1200" b="0">
                <a:solidFill>
                  <a:srgbClr val="5A6B82"/>
                </a:solidFill>
                <a:latin typeface="Segoe UI"/>
              </a:rPr>
              <a:t>  — Make day-to-day assortment, replenishment, markdown decisions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1B2C5C"/>
                </a:solidFill>
                <a:latin typeface="Segoe UI"/>
              </a:rPr>
              <a:t>•  Category and fineline leads</a:t>
            </a:r>
            <a:r>
              <a:rPr sz="1200" b="0">
                <a:solidFill>
                  <a:srgbClr val="5A6B82"/>
                </a:solidFill>
                <a:latin typeface="Segoe UI"/>
              </a:rPr>
              <a:t>  — Track YoY, EGM, in-season demand vs supply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1B2C5C"/>
                </a:solidFill>
                <a:latin typeface="Segoe UI"/>
              </a:rPr>
              <a:t>•  PBI Product &amp; Platform team</a:t>
            </a:r>
            <a:r>
              <a:rPr sz="1200" b="0">
                <a:solidFill>
                  <a:srgbClr val="5A6B82"/>
                </a:solidFill>
                <a:latin typeface="Segoe UI"/>
              </a:rPr>
              <a:t>  — Evaluate enterprise rollout patterns and governance posture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280160"/>
            <a:ext cx="5486400" cy="512064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41732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A1A22"/>
                </a:solidFill>
                <a:latin typeface="Segoe UI"/>
              </a:rPr>
              <a:t>Outcomes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874519"/>
            <a:ext cx="51206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1B2C5C"/>
                </a:solidFill>
                <a:latin typeface="Segoe UI"/>
              </a:rPr>
              <a:t>•  Faster insight</a:t>
            </a:r>
            <a:r>
              <a:rPr sz="1200" b="0">
                <a:solidFill>
                  <a:srgbClr val="5A6B82"/>
                </a:solidFill>
                <a:latin typeface="Segoe UI"/>
              </a:rPr>
              <a:t>  — Ask in English, no Power Query, no DAX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1B2C5C"/>
                </a:solidFill>
                <a:latin typeface="Segoe UI"/>
              </a:rPr>
              <a:t>•  Confident decisions</a:t>
            </a:r>
            <a:r>
              <a:rPr sz="1200" b="0">
                <a:solidFill>
                  <a:srgbClr val="5A6B82"/>
                </a:solidFill>
                <a:latin typeface="Segoe UI"/>
              </a:rPr>
              <a:t>  — Answers grounded on the trusted semantic model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1B2C5C"/>
                </a:solidFill>
                <a:latin typeface="Segoe UI"/>
              </a:rPr>
              <a:t>•  Consistent definitions</a:t>
            </a:r>
            <a:r>
              <a:rPr sz="1200" b="0">
                <a:solidFill>
                  <a:srgbClr val="5A6B82"/>
                </a:solidFill>
                <a:latin typeface="Segoe UI"/>
              </a:rPr>
              <a:t>  — POS, RVS, EGM, WoS, Lost Sales follow business glossary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1B2C5C"/>
                </a:solidFill>
                <a:latin typeface="Segoe UI"/>
              </a:rPr>
              <a:t>•  Scalable adoption</a:t>
            </a:r>
            <a:r>
              <a:rPr sz="1200" b="0">
                <a:solidFill>
                  <a:srgbClr val="5A6B82"/>
                </a:solidFill>
                <a:latin typeface="Segoe UI"/>
              </a:rPr>
              <a:t>  — Same model serves buyer Q&amp;A, dashboards, and Data Agent surfaces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38100"/>
          </a:xfrm>
          <a:prstGeom prst="rect">
            <a:avLst/>
          </a:prstGeom>
          <a:solidFill>
            <a:srgbClr val="CA1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>
                <a:solidFill>
                  <a:srgbClr val="1B2C5C"/>
                </a:solidFill>
                <a:latin typeface="Segoe UI"/>
              </a:rP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A6B82"/>
                </a:solidFill>
                <a:latin typeface="Segoe UI"/>
              </a:rPr>
              <a:t>Direct Lake on OneLake + semantic model + Copilot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228600"/>
            <a:ext cx="1554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A6B82"/>
                </a:solidFill>
                <a:latin typeface="Segoe UI"/>
              </a:rPr>
              <a:t>Microsoft Canada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11247120" cy="914400"/>
          </a:xfrm>
          <a:prstGeom prst="rect">
            <a:avLst/>
          </a:prstGeom>
          <a:solidFill>
            <a:srgbClr val="1B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31600"/>
            <a:ext cx="2743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Consumption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1431600"/>
            <a:ext cx="80467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Copilot in Power BI  |  Smart Narrative  |  Q&amp;A  |  Data Agent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23160"/>
            <a:ext cx="11247120" cy="914400"/>
          </a:xfrm>
          <a:prstGeom prst="rect">
            <a:avLst/>
          </a:prstGeom>
          <a:solidFill>
            <a:srgbClr val="5A6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483160"/>
            <a:ext cx="2743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Semantic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483160"/>
            <a:ext cx="80467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ctc_merch (Direct Lake on OneLake) - measure descriptions, synonyms, example prompts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474720"/>
            <a:ext cx="11247120" cy="914400"/>
          </a:xfrm>
          <a:prstGeom prst="rect">
            <a:avLst/>
          </a:prstGeom>
          <a:solidFill>
            <a:srgbClr val="CA1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534720"/>
            <a:ext cx="2743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OneLake (Delta)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3534720"/>
            <a:ext cx="80467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dim_sku, dim_vendor, dim_season, dim_date, fact_sku_performance, fact_in_season, fact_connected_inventory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26280"/>
            <a:ext cx="11247120" cy="914400"/>
          </a:xfrm>
          <a:prstGeom prst="rect">
            <a:avLst/>
          </a:prstGeom>
          <a:solidFill>
            <a:srgbClr val="4F5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586280"/>
            <a:ext cx="2743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Source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4586280"/>
            <a:ext cx="80467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Customer-prepared synthetic Merch datasets + blended dimensions (Faker)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8521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A6B82"/>
                </a:solidFill>
                <a:latin typeface="Segoe UI"/>
              </a:rPr>
              <a:t>No data movement at query time. Copilot resolves natural language directly against the model.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38100"/>
          </a:xfrm>
          <a:prstGeom prst="rect">
            <a:avLst/>
          </a:prstGeom>
          <a:solidFill>
            <a:srgbClr val="CA1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>
                <a:solidFill>
                  <a:srgbClr val="1B2C5C"/>
                </a:solidFill>
                <a:latin typeface="Segoe UI"/>
              </a:rPr>
              <a:t>The data behind the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A6B82"/>
                </a:solidFill>
                <a:latin typeface="Segoe UI"/>
              </a:rPr>
              <a:t>Customer-prepared Merch datasets, modeled for natural language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228600"/>
            <a:ext cx="1554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A6B82"/>
                </a:solidFill>
                <a:latin typeface="Segoe UI"/>
              </a:rPr>
              <a:t>Microsoft Canada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3657600" cy="18288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CA1A22"/>
                </a:solidFill>
                <a:latin typeface="Segoe UI"/>
              </a:rPr>
              <a:t>SKU Performance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32918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B2C5C"/>
                </a:solidFill>
                <a:latin typeface="Segoe UI"/>
              </a:rPr>
              <a:t>POS (Point of Sale) $ + units, RVS (Retail Value of Shipments), EGM (Enterprise Gross Margin) $ and %, QTD / YTD / R12 timeframes - 68 SKUs across 9 categories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60" y="1280160"/>
            <a:ext cx="3657600" cy="18288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4173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CA1A22"/>
                </a:solidFill>
                <a:latin typeface="Segoe UI"/>
              </a:rPr>
              <a:t>In-Season Shipment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783080"/>
            <a:ext cx="32918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B2C5C"/>
                </a:solidFill>
                <a:latin typeface="Segoe UI"/>
              </a:rPr>
              <a:t>YTD POS vs YTD Ship, Retail and Corp inventory, POS and Ship forecast, Open PO, Planned Purchase, Weeks of Supply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1280160"/>
            <a:ext cx="3657600" cy="18288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4173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CA1A22"/>
                </a:solidFill>
                <a:latin typeface="Segoe UI"/>
              </a:rPr>
              <a:t>Connected Inventory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1783080"/>
            <a:ext cx="32918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B2C5C"/>
                </a:solidFill>
                <a:latin typeface="Segoe UI"/>
              </a:rPr>
              <a:t>Corp / Retail inventory TY vs LY, R8 sales velocity, Lost Sales %, Vendor Fill Rate %, DDF units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383280"/>
            <a:ext cx="11247120" cy="301752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5204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CA1A22"/>
                </a:solidFill>
                <a:latin typeface="Segoe UI"/>
              </a:rPr>
              <a:t>What we added for Copilot quality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931920"/>
            <a:ext cx="1097280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00">
                <a:solidFill>
                  <a:srgbClr val="1B2C5C"/>
                </a:solidFill>
                <a:latin typeface="Segoe UI"/>
              </a:rPr>
              <a:t>•  Rich `description` annotation on every measure and key column (POS, RVS, EGM, WoS, Lost Sales, Fill Rate, R8, R12)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1B2C5C"/>
                </a:solidFill>
                <a:latin typeface="Segoe UI"/>
              </a:rPr>
              <a:t>•  Synonyms baked in (supplier vs vendor, item vs SKU, stockout rate vs lost sales)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1B2C5C"/>
                </a:solidFill>
                <a:latin typeface="Segoe UI"/>
              </a:rPr>
              <a:t>•  Display folders group measures by Sales, Shipments, Profitability, Inventory, WoS, Execution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1B2C5C"/>
                </a:solidFill>
                <a:latin typeface="Segoe UI"/>
              </a:rPr>
              <a:t>•  Customer's question set seeded into Copilot examplePrompts.json - shows up as starter prompts in the chat pane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38100"/>
          </a:xfrm>
          <a:prstGeom prst="rect">
            <a:avLst/>
          </a:prstGeom>
          <a:solidFill>
            <a:srgbClr val="CA1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>
                <a:solidFill>
                  <a:srgbClr val="1B2C5C"/>
                </a:solidFill>
                <a:latin typeface="Segoe UI"/>
              </a:rPr>
              <a:t>Live demo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A6B82"/>
                </a:solidFill>
                <a:latin typeface="Segoe UI"/>
              </a:rPr>
              <a:t>Six prompts, six minutes, business outcomes you can act 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228600"/>
            <a:ext cx="1554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A6B82"/>
                </a:solidFill>
                <a:latin typeface="Segoe UI"/>
              </a:rPr>
              <a:t>Microsoft Canada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11247120" cy="77724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3657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CA1A22"/>
                </a:solidFill>
                <a:latin typeface="Segoe U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37160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B2C5C"/>
                </a:solidFill>
                <a:latin typeface="Segoe UI"/>
              </a:rPr>
              <a:t>Summarize this page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709928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A6B82"/>
                </a:solidFill>
                <a:latin typeface="Segoe UI"/>
              </a:rPr>
              <a:t>Press the Copilot button. Get an executive narrative of POS / RVS / EGM for the page in context.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167128"/>
            <a:ext cx="11247120" cy="77724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258568"/>
            <a:ext cx="3657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CA1A22"/>
                </a:solidFill>
                <a:latin typeface="Segoe U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212848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B2C5C"/>
                </a:solidFill>
                <a:latin typeface="Segoe UI"/>
              </a:rPr>
              <a:t>Category snapshot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551176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A6B82"/>
                </a:solidFill>
                <a:latin typeface="Segoe UI"/>
              </a:rPr>
              <a:t>"Summary of POS, RVS, EGM for Kitchen &amp; Small Appliances across QTD, YTD, R12"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008376"/>
            <a:ext cx="11247120" cy="77724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099816"/>
            <a:ext cx="3657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CA1A22"/>
                </a:solidFill>
                <a:latin typeface="Segoe U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054096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B2C5C"/>
                </a:solidFill>
                <a:latin typeface="Segoe UI"/>
              </a:rPr>
              <a:t>Top SKUs by EGM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3392424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A6B82"/>
                </a:solidFill>
                <a:latin typeface="Segoe UI"/>
              </a:rPr>
              <a:t>"Top 10 SKUs by EGM dollars with YoY change and margin %"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849624"/>
            <a:ext cx="11247120" cy="77724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941064"/>
            <a:ext cx="3657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CA1A22"/>
                </a:solidFill>
                <a:latin typeface="Segoe U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3895344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B2C5C"/>
                </a:solidFill>
                <a:latin typeface="Segoe UI"/>
              </a:rPr>
              <a:t>Fineline YoY comparison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233672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A6B82"/>
                </a:solidFill>
                <a:latin typeface="Segoe UI"/>
              </a:rPr>
              <a:t>"Compare YoY performance for Air Fryers vs Cookware Sets" - includes POS, RVS, EGM 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690872"/>
            <a:ext cx="11247120" cy="77724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782312"/>
            <a:ext cx="3657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CA1A22"/>
                </a:solidFill>
                <a:latin typeface="Segoe U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4736592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B2C5C"/>
                </a:solidFill>
                <a:latin typeface="Segoe UI"/>
              </a:rPr>
              <a:t>Overstock vs understock signal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507492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A6B82"/>
                </a:solidFill>
                <a:latin typeface="Segoe UI"/>
              </a:rPr>
              <a:t>"SKUs with weeks of supply &gt; 18 but lost sales &lt; 2%" - markdown candidates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532120"/>
            <a:ext cx="11247120" cy="77724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623560"/>
            <a:ext cx="3657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CA1A22"/>
                </a:solidFill>
                <a:latin typeface="Segoe UI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557784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B2C5C"/>
                </a:solidFill>
                <a:latin typeface="Segoe UI"/>
              </a:rPr>
              <a:t>Supply-constrained growth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20" y="5916168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A6B82"/>
                </a:solidFill>
                <a:latin typeface="Segoe UI"/>
              </a:rPr>
              <a:t>"SKUs with lost sales &gt; 5% AND fill rate &lt; 85%" - supply risk on growing SKUs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38100"/>
          </a:xfrm>
          <a:prstGeom prst="rect">
            <a:avLst/>
          </a:prstGeom>
          <a:solidFill>
            <a:srgbClr val="CA1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>
                <a:solidFill>
                  <a:srgbClr val="1B2C5C"/>
                </a:solidFill>
                <a:latin typeface="Segoe UI"/>
              </a:rPr>
              <a:t>Headline findings from the demo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A6B82"/>
                </a:solidFill>
                <a:latin typeface="Segoe UI"/>
              </a:rPr>
              <a:t>What Copilot surfaces in seconds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228600"/>
            <a:ext cx="1554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A6B82"/>
                </a:solidFill>
                <a:latin typeface="Segoe UI"/>
              </a:rPr>
              <a:t>Microsoft Canada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2743200" cy="146304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08760"/>
            <a:ext cx="2743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CA1A22"/>
                </a:solidFill>
                <a:latin typeface="Segoe UI"/>
              </a:rPr>
              <a:t>+27.9%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4028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5A6B82"/>
                </a:solidFill>
                <a:latin typeface="Segoe UI"/>
              </a:rPr>
              <a:t>POS YoY (Total)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1280160"/>
            <a:ext cx="2743200" cy="146304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508760"/>
            <a:ext cx="2743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107752"/>
                </a:solidFill>
                <a:latin typeface="Segoe UI"/>
              </a:rPr>
              <a:t>42.3%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224028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5A6B82"/>
                </a:solidFill>
                <a:latin typeface="Segoe UI"/>
              </a:rPr>
              <a:t>EGM % 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280160"/>
            <a:ext cx="2743200" cy="146304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508760"/>
            <a:ext cx="2743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CC8A00"/>
                </a:solidFill>
                <a:latin typeface="Segoe UI"/>
              </a:rPr>
              <a:t>4.06%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24028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5A6B82"/>
                </a:solidFill>
                <a:latin typeface="Segoe UI"/>
              </a:rPr>
              <a:t>Avg Lost Sales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98280" y="1280160"/>
            <a:ext cx="2743200" cy="146304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98280" y="1508760"/>
            <a:ext cx="2743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CA1A22"/>
                </a:solidFill>
                <a:latin typeface="Segoe UI"/>
              </a:rPr>
              <a:t>89.0%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224028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5A6B82"/>
                </a:solidFill>
                <a:latin typeface="Segoe UI"/>
              </a:rPr>
              <a:t>Vendor Fill 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9260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CA1A22"/>
                </a:solidFill>
                <a:latin typeface="Segoe UI"/>
              </a:rPr>
              <a:t>Insights merchants can act 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337560"/>
            <a:ext cx="1124712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00" b="1">
                <a:solidFill>
                  <a:srgbClr val="1B2C5C"/>
                </a:solidFill>
                <a:latin typeface="Segoe UI"/>
              </a:rPr>
              <a:t>•  Air Fryers +88.7% YoY POS</a:t>
            </a:r>
            <a:r>
              <a:rPr sz="1100" b="0">
                <a:solidFill>
                  <a:srgbClr val="5A6B82"/>
                </a:solidFill>
                <a:latin typeface="Segoe UI"/>
              </a:rPr>
              <a:t>  — Strongest growth fineline - protect supply, expand assortment</a:t>
            </a:r>
          </a:p>
          <a:p>
            <a:pPr>
              <a:lnSpc>
                <a:spcPct val="115000"/>
              </a:lnSpc>
            </a:pPr>
            <a:r>
              <a:rPr sz="1200" b="1">
                <a:solidFill>
                  <a:srgbClr val="1B2C5C"/>
                </a:solidFill>
                <a:latin typeface="Segoe UI"/>
              </a:rPr>
              <a:t>•  NK Dual Zone Air Fryer 8L losing 13.7% of demand</a:t>
            </a:r>
            <a:r>
              <a:rPr sz="1100" b="0">
                <a:solidFill>
                  <a:srgbClr val="5A6B82"/>
                </a:solidFill>
                <a:latin typeface="Segoe UI"/>
              </a:rPr>
              <a:t>  — Vendor fill rate only 72.7% - immediate supply intervention</a:t>
            </a:r>
          </a:p>
          <a:p>
            <a:pPr>
              <a:lnSpc>
                <a:spcPct val="115000"/>
              </a:lnSpc>
            </a:pPr>
            <a:r>
              <a:rPr sz="1200" b="1">
                <a:solidFill>
                  <a:srgbClr val="1B2C5C"/>
                </a:solidFill>
                <a:latin typeface="Segoe UI"/>
              </a:rPr>
              <a:t>•  9 SKUs WoS &gt; 18 with low lost sales</a:t>
            </a:r>
            <a:r>
              <a:rPr sz="1100" b="0">
                <a:solidFill>
                  <a:srgbClr val="5A6B82"/>
                </a:solidFill>
                <a:latin typeface="Segoe UI"/>
              </a:rPr>
              <a:t>  — Classic markdown / promo candidates - sell-through stalled</a:t>
            </a:r>
          </a:p>
          <a:p>
            <a:pPr>
              <a:lnSpc>
                <a:spcPct val="115000"/>
              </a:lnSpc>
            </a:pPr>
            <a:r>
              <a:rPr sz="1200" b="1">
                <a:solidFill>
                  <a:srgbClr val="1B2C5C"/>
                </a:solidFill>
                <a:latin typeface="Segoe UI"/>
              </a:rPr>
              <a:t>•  OL-BBQ-003 (Woodfire Grill) +1671% YoY</a:t>
            </a:r>
            <a:r>
              <a:rPr sz="1100" b="0">
                <a:solidFill>
                  <a:srgbClr val="5A6B82"/>
                </a:solidFill>
                <a:latin typeface="Segoe UI"/>
              </a:rPr>
              <a:t>  — New SKU with strong demand but fill rate 71% - over-rotate on PO</a:t>
            </a:r>
          </a:p>
          <a:p>
            <a:pPr>
              <a:lnSpc>
                <a:spcPct val="115000"/>
              </a:lnSpc>
            </a:pPr>
            <a:r>
              <a:rPr sz="1200" b="1">
                <a:solidFill>
                  <a:srgbClr val="1B2C5C"/>
                </a:solidFill>
                <a:latin typeface="Segoe UI"/>
              </a:rPr>
              <a:t>•  Canvas Outdoor vendor +2.9% YoY, $7.4M, 39.9% EGM, 89.1% fill</a:t>
            </a:r>
            <a:r>
              <a:rPr sz="1100" b="0">
                <a:solidFill>
                  <a:srgbClr val="5A6B82"/>
                </a:solidFill>
                <a:latin typeface="Segoe UI"/>
              </a:rPr>
              <a:t>  — Anchor vendor performing steadily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38100"/>
          </a:xfrm>
          <a:prstGeom prst="rect">
            <a:avLst/>
          </a:prstGeom>
          <a:solidFill>
            <a:srgbClr val="CA1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>
                <a:solidFill>
                  <a:srgbClr val="1B2C5C"/>
                </a:solidFill>
                <a:latin typeface="Segoe UI"/>
              </a:rPr>
              <a:t>Governance and trust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A6B82"/>
                </a:solidFill>
                <a:latin typeface="Segoe UI"/>
              </a:rPr>
              <a:t>Built for enterprise rollout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228600"/>
            <a:ext cx="1554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A6B82"/>
                </a:solidFill>
                <a:latin typeface="Segoe UI"/>
              </a:rPr>
              <a:t>Microsoft Canada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1B2C5C"/>
                </a:solidFill>
                <a:latin typeface="Segoe UI"/>
              </a:rPr>
              <a:t>•  PII handling</a:t>
            </a:r>
            <a:r>
              <a:rPr sz="1200" b="0">
                <a:solidFill>
                  <a:srgbClr val="5A6B82"/>
                </a:solidFill>
                <a:latin typeface="Segoe UI"/>
              </a:rPr>
              <a:t>  — Copilot in PBI does not send PII outside the M365 service boundary. Sensitivity labels and Purview classification carry through.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1B2C5C"/>
                </a:solidFill>
                <a:latin typeface="Segoe UI"/>
              </a:rPr>
              <a:t>•  Data residency</a:t>
            </a:r>
            <a:r>
              <a:rPr sz="1200" b="0">
                <a:solidFill>
                  <a:srgbClr val="5A6B82"/>
                </a:solidFill>
                <a:latin typeface="Segoe UI"/>
              </a:rPr>
              <a:t>  — Canadian Tire is on Canada-resident Fabric capacity. Copilot processing stays within the M365 geo of your tenant.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1B2C5C"/>
                </a:solidFill>
                <a:latin typeface="Segoe UI"/>
              </a:rPr>
              <a:t>•  Conversation retention</a:t>
            </a:r>
            <a:r>
              <a:rPr sz="1200" b="0">
                <a:solidFill>
                  <a:srgbClr val="5A6B82"/>
                </a:solidFill>
                <a:latin typeface="Segoe UI"/>
              </a:rPr>
              <a:t>  — Prompt and response history governed by M365 admin retention policies. No model training on your data.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1B2C5C"/>
                </a:solidFill>
                <a:latin typeface="Segoe UI"/>
              </a:rPr>
              <a:t>•  Purview DLP</a:t>
            </a:r>
            <a:r>
              <a:rPr sz="1200" b="0">
                <a:solidFill>
                  <a:srgbClr val="5A6B82"/>
                </a:solidFill>
                <a:latin typeface="Segoe UI"/>
              </a:rPr>
              <a:t>  — Existing DLP policies apply to Copilot interactions, including blocked sharing of sensitive content.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1B2C5C"/>
                </a:solidFill>
                <a:latin typeface="Segoe UI"/>
              </a:rPr>
              <a:t>•  Responsible AI</a:t>
            </a:r>
            <a:r>
              <a:rPr sz="1200" b="0">
                <a:solidFill>
                  <a:srgbClr val="5A6B82"/>
                </a:solidFill>
                <a:latin typeface="Segoe UI"/>
              </a:rPr>
              <a:t>  — Aligned with Microsoft Responsible AI Standard - groundedness, safety filters, attribution.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1B2C5C"/>
                </a:solidFill>
                <a:latin typeface="Segoe UI"/>
              </a:rPr>
              <a:t>•  Audit and observability</a:t>
            </a:r>
            <a:r>
              <a:rPr sz="1200" b="0">
                <a:solidFill>
                  <a:srgbClr val="5A6B82"/>
                </a:solidFill>
                <a:latin typeface="Segoe UI"/>
              </a:rPr>
              <a:t>  — Copilot usage logged in M365 audit log, viewable via Purview eDiscovery.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38100"/>
          </a:xfrm>
          <a:prstGeom prst="rect">
            <a:avLst/>
          </a:prstGeom>
          <a:solidFill>
            <a:srgbClr val="CA1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>
                <a:solidFill>
                  <a:srgbClr val="1B2C5C"/>
                </a:solidFill>
                <a:latin typeface="Segoe UI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A6B82"/>
                </a:solidFill>
                <a:latin typeface="Segoe UI"/>
              </a:rPr>
              <a:t>Where Copilot in Power BI is going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228600"/>
            <a:ext cx="1554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A6B82"/>
                </a:solidFill>
                <a:latin typeface="Segoe UI"/>
              </a:rPr>
              <a:t>Microsoft Canada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1B2C5C"/>
                </a:solidFill>
                <a:latin typeface="Segoe UI"/>
              </a:rPr>
              <a:t>•  GA today</a:t>
            </a:r>
            <a:r>
              <a:rPr sz="1200" b="0">
                <a:solidFill>
                  <a:srgbClr val="5A6B82"/>
                </a:solidFill>
                <a:latin typeface="Segoe UI"/>
              </a:rPr>
              <a:t>  — Summarize page, Q&amp;A, Smart Narrative, Find Insights, anomaly explanations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1B2C5C"/>
                </a:solidFill>
                <a:latin typeface="Segoe UI"/>
              </a:rPr>
              <a:t>•  Recent additions</a:t>
            </a:r>
            <a:r>
              <a:rPr sz="1200" b="0">
                <a:solidFill>
                  <a:srgbClr val="5A6B82"/>
                </a:solidFill>
                <a:latin typeface="Segoe UI"/>
              </a:rPr>
              <a:t>  — Cross-report grounding, custom semantic model instructions, multi-turn Q&amp;A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1B2C5C"/>
                </a:solidFill>
                <a:latin typeface="Segoe UI"/>
              </a:rPr>
              <a:t>•  Near-term (next 90 days)</a:t>
            </a:r>
            <a:r>
              <a:rPr sz="1200" b="0">
                <a:solidFill>
                  <a:srgbClr val="5A6B82"/>
                </a:solidFill>
                <a:latin typeface="Segoe UI"/>
              </a:rPr>
              <a:t>  — Agent-style follow-ups, deeper drill into measure lineage, custom example prompts at workspace scope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1B2C5C"/>
                </a:solidFill>
                <a:latin typeface="Segoe UI"/>
              </a:rPr>
              <a:t>•  Integration story</a:t>
            </a:r>
            <a:r>
              <a:rPr sz="1200" b="0">
                <a:solidFill>
                  <a:srgbClr val="5A6B82"/>
                </a:solidFill>
                <a:latin typeface="Segoe UI"/>
              </a:rPr>
              <a:t>  — Fabric Data Agent, Copilot Studio agents, Teams + Outlook + Word surfaces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1B2C5C"/>
                </a:solidFill>
                <a:latin typeface="Segoe UI"/>
              </a:rPr>
              <a:t>•  CTC-specific opportunities</a:t>
            </a:r>
            <a:r>
              <a:rPr sz="1200" b="0">
                <a:solidFill>
                  <a:srgbClr val="5A6B82"/>
                </a:solidFill>
                <a:latin typeface="Segoe UI"/>
              </a:rPr>
              <a:t>  — Workspace-scoped Copilot for Merch, finance-team scope (separate effort), supply-chain agent on Connected Inventory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38100"/>
          </a:xfrm>
          <a:prstGeom prst="rect">
            <a:avLst/>
          </a:prstGeom>
          <a:solidFill>
            <a:srgbClr val="CA1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>
                <a:solidFill>
                  <a:srgbClr val="1B2C5C"/>
                </a:solidFill>
                <a:latin typeface="Segoe UI"/>
              </a:rPr>
              <a:t>Recommended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A6B82"/>
                </a:solidFill>
                <a:latin typeface="Segoe UI"/>
              </a:rPr>
              <a:t>From demo to enterprise rollout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228600"/>
            <a:ext cx="1554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A6B82"/>
                </a:solidFill>
                <a:latin typeface="Segoe UI"/>
              </a:rPr>
              <a:t>Microsoft Canada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1B2C5C"/>
                </a:solidFill>
                <a:latin typeface="Segoe UI"/>
              </a:rPr>
              <a:t>•  This week</a:t>
            </a:r>
            <a:r>
              <a:rPr sz="1200" b="0">
                <a:solidFill>
                  <a:srgbClr val="5A6B82"/>
                </a:solidFill>
                <a:latin typeface="Segoe UI"/>
              </a:rPr>
              <a:t>  — Enable Copilot in Power BI for the Merch team pilot workspace (IT ticket - CTC IT noted ongoing enablement)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1B2C5C"/>
                </a:solidFill>
                <a:latin typeface="Segoe UI"/>
              </a:rPr>
              <a:t>•  Within 2 weeks</a:t>
            </a:r>
            <a:r>
              <a:rPr sz="1200" b="0">
                <a:solidFill>
                  <a:srgbClr val="5A6B82"/>
                </a:solidFill>
                <a:latin typeface="Segoe UI"/>
              </a:rPr>
              <a:t>  — Apply the descriptions / synonyms / example prompts pattern to the migrated Merch semantic models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1B2C5C"/>
                </a:solidFill>
                <a:latin typeface="Segoe UI"/>
              </a:rPr>
              <a:t>•  Within 4 weeks</a:t>
            </a:r>
            <a:r>
              <a:rPr sz="1200" b="0">
                <a:solidFill>
                  <a:srgbClr val="5A6B82"/>
                </a:solidFill>
                <a:latin typeface="Segoe UI"/>
              </a:rPr>
              <a:t>  — Pilot with 10-15 buyers, capture prompt patterns, refine examplePrompts.json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1B2C5C"/>
                </a:solidFill>
                <a:latin typeface="Segoe UI"/>
              </a:rPr>
              <a:t>•  ARB-2</a:t>
            </a:r>
            <a:r>
              <a:rPr sz="1200" b="0">
                <a:solidFill>
                  <a:srgbClr val="5A6B82"/>
                </a:solidFill>
                <a:latin typeface="Segoe UI"/>
              </a:rPr>
              <a:t>  — Use this pilot evidence + governance posture for ARB-2 approval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1B2C5C"/>
                </a:solidFill>
                <a:latin typeface="Segoe UI"/>
              </a:rPr>
              <a:t>•  Broader rollout</a:t>
            </a:r>
            <a:r>
              <a:rPr sz="1200" b="0">
                <a:solidFill>
                  <a:srgbClr val="5A6B82"/>
                </a:solidFill>
                <a:latin typeface="Segoe UI"/>
              </a:rPr>
              <a:t>  — Cascade to Finance (separate effort), Supply Chain, Stores once Merch validates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1B2C5C"/>
                </a:solidFill>
                <a:latin typeface="Segoe UI"/>
              </a:rPr>
              <a:t>•  Microsoft Canada support</a:t>
            </a:r>
            <a:r>
              <a:rPr sz="1200" b="0">
                <a:solidFill>
                  <a:srgbClr val="5A6B82"/>
                </a:solidFill>
                <a:latin typeface="Segoe UI"/>
              </a:rPr>
              <a:t>  — Engineering hands-on for the first 30 days; weekly office hours for buyer Q&amp;A patterns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743200"/>
            <a:ext cx="914400" cy="91440"/>
          </a:xfrm>
          <a:prstGeom prst="rect">
            <a:avLst/>
          </a:prstGeom>
          <a:solidFill>
            <a:srgbClr val="CA1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Segoe UI"/>
              </a:rP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93192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CCD3DE"/>
                </a:solidFill>
                <a:latin typeface="Segoe UI"/>
              </a:rPr>
              <a:t>Let's talk about how Copilot fits Merch at Canadian Tire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8BB"/>
                </a:solidFill>
                <a:latin typeface="Segoe UI"/>
              </a:rPr>
              <a:t>anuragdh@microsoft.com  |  Microsoft Canada Data Specialist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