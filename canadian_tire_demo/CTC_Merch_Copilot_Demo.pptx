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017520"/>
            <a:ext cx="914400" cy="91440"/>
          </a:xfrm>
          <a:prstGeom prst="rect">
            <a:avLst/>
          </a:prstGeom>
          <a:solidFill>
            <a:srgbClr val="C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Segoe UI"/>
              </a:rPr>
              <a:t>Copilot in Power BI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"/>
              </a:rPr>
              <a:t>Merch Performance Demo for Canadian Tire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CD3DE"/>
                </a:solidFill>
                <a:latin typeface="Segoe UI"/>
              </a:rPr>
              <a:t>Natural-language insights for buyers and merchants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9AA8BB"/>
                </a:solidFill>
                <a:latin typeface="Segoe UI"/>
              </a:rPr>
              <a:t>Microsoft Canada | Friday May 29, 2026 | M365CopilotEnablement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C5C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What we will cover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228600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Segoe UI"/>
              </a:rPr>
              <a:t>Microsoft Canada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1B2C5C"/>
                </a:solidFill>
                <a:latin typeface="Segoe UI"/>
              </a:rPr>
              <a:t>•  Why Copilot in Power BI</a:t>
            </a:r>
            <a:r>
              <a:rPr sz="1500" b="0">
                <a:solidFill>
                  <a:srgbClr val="5A6B82"/>
                </a:solidFill>
                <a:latin typeface="Segoe UI"/>
              </a:rPr>
              <a:t>  — How natural-language consumption fits CTC's Merch workflows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1B2C5C"/>
                </a:solidFill>
                <a:latin typeface="Segoe UI"/>
              </a:rPr>
              <a:t>•  How it works</a:t>
            </a:r>
            <a:r>
              <a:rPr sz="1500" b="0">
                <a:solidFill>
                  <a:srgbClr val="5A6B82"/>
                </a:solidFill>
                <a:latin typeface="Segoe UI"/>
              </a:rPr>
              <a:t>  — Direct Lake + semantic model with rich descriptions for accurate answers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1B2C5C"/>
                </a:solidFill>
                <a:latin typeface="Segoe UI"/>
              </a:rPr>
              <a:t>•  Live demo (Merch synthetic data)</a:t>
            </a:r>
            <a:r>
              <a:rPr sz="1500" b="0">
                <a:solidFill>
                  <a:srgbClr val="5A6B82"/>
                </a:solidFill>
                <a:latin typeface="Segoe UI"/>
              </a:rPr>
              <a:t>  — Sales, in-season demand, connected inventory across categories and SKUs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1B2C5C"/>
                </a:solidFill>
                <a:latin typeface="Segoe UI"/>
              </a:rPr>
              <a:t>•  Customer questions, answered</a:t>
            </a:r>
            <a:r>
              <a:rPr sz="1500" b="0">
                <a:solidFill>
                  <a:srgbClr val="5A6B82"/>
                </a:solidFill>
                <a:latin typeface="Segoe UI"/>
              </a:rPr>
              <a:t>  — Walking through prompts CTC prepared, live, in front of you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1B2C5C"/>
                </a:solidFill>
                <a:latin typeface="Segoe UI"/>
              </a:rPr>
              <a:t>•  Governance and roadmap</a:t>
            </a:r>
            <a:r>
              <a:rPr sz="1500" b="0">
                <a:solidFill>
                  <a:srgbClr val="5A6B82"/>
                </a:solidFill>
                <a:latin typeface="Segoe UI"/>
              </a:rPr>
              <a:t>  — PII handling, data residency, conversation retention, Purview DLP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1B2C5C"/>
                </a:solidFill>
                <a:latin typeface="Segoe UI"/>
              </a:rPr>
              <a:t>•  Next steps</a:t>
            </a:r>
            <a:r>
              <a:rPr sz="1500" b="0">
                <a:solidFill>
                  <a:srgbClr val="5A6B82"/>
                </a:solidFill>
                <a:latin typeface="Segoe UI"/>
              </a:rPr>
              <a:t>  — Path from this demo to enterprise rollout at Canadian Tire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C5C"/>
                </a:solidFill>
                <a:latin typeface="Segoe UI"/>
              </a:rPr>
              <a:t>Who this is for, what it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Built for the Merch buyer and analyst persona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228600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Segoe UI"/>
              </a:rPr>
              <a:t>Microsoft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486400" cy="51206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A1A22"/>
                </a:solidFill>
                <a:latin typeface="Segoe UI"/>
              </a:rPr>
              <a:t>Audience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Merch buyers and analysts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Make day-to-day assortment, replenishment, markdown decisions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Category and fineline leads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Track YoY, EGM, in-season demand vs supply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PBI Product &amp; Platform team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Evaluate enterprise rollout patterns and governance posture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280160"/>
            <a:ext cx="5486400" cy="51206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173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A1A22"/>
                </a:solidFill>
                <a:latin typeface="Segoe UI"/>
              </a:rPr>
              <a:t>Outcomes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874519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Faster insight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Ask in English, no Power Query, no DAX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Confident decisions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Answers grounded on the trusted semantic model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Consistent definitions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POS, RVS, EGM, WoS, Lost Sales follow business glossary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Scalable adoption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Same model serves buyer Q&amp;A, dashboards, and Data Agent surfaces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C5C"/>
                </a:solidFill>
                <a:latin typeface="Segoe U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Direct Lake on OneLake + semantic model +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228600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Segoe UI"/>
              </a:rPr>
              <a:t>Microsoft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solidFill>
            <a:srgbClr val="1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31600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Consumption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431600"/>
            <a:ext cx="8046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Copilot in Power BI  |  Smart Narrative  |  Q&amp;A  |  Fabric Data Agent (Teams + Portal)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23160"/>
            <a:ext cx="11247120" cy="9144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3160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Semantic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483160"/>
            <a:ext cx="8046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ctc_merch (Direct Lake on OneLake) - measure descriptions, synonyms, table semantics for the Data 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11247120" cy="914400"/>
          </a:xfrm>
          <a:prstGeom prst="rect">
            <a:avLst/>
          </a:prstGeom>
          <a:solidFill>
            <a:srgbClr val="C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34720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OneLake (Delta)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534720"/>
            <a:ext cx="8046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dim_sku, dim_vendor, dim_season, dim_date, fact_sku_performance, fact_in_season, fact_connected_inventory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26280"/>
            <a:ext cx="11247120" cy="914400"/>
          </a:xfrm>
          <a:prstGeom prst="rect">
            <a:avLst/>
          </a:prstGeom>
          <a:solidFill>
            <a:srgbClr val="4F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586280"/>
            <a:ext cx="2743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Source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586280"/>
            <a:ext cx="8046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Segoe UI"/>
              </a:rPr>
              <a:t>Customer-prepared synthetic Merch datasets + blended dimensions (Faker)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B82"/>
                </a:solidFill>
                <a:latin typeface="Segoe UI"/>
              </a:rPr>
              <a:t>No data movement at query time. Copilot resolves natural language directly against the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C5C"/>
                </a:solidFill>
                <a:latin typeface="Segoe UI"/>
              </a:rPr>
              <a:t>The data behind the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Customer-prepared Merch datasets, modeled for natural language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228600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Segoe UI"/>
              </a:rPr>
              <a:t>Microsoft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3657600" cy="18288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CA1A22"/>
                </a:solidFill>
                <a:latin typeface="Segoe UI"/>
              </a:rPr>
              <a:t>SKU 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2C5C"/>
                </a:solidFill>
                <a:latin typeface="Segoe UI"/>
              </a:rPr>
              <a:t>POS (Point of Sale) $ + units, RVS (Retail Value of Shipments), EGM (Enterprise Gross Margin) $ and %, QTD / YTD / R12 timeframes - 68 SKUs across 9 categories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18288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417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CA1A22"/>
                </a:solidFill>
                <a:latin typeface="Segoe UI"/>
              </a:rPr>
              <a:t>In-Season Shipment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783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2C5C"/>
                </a:solidFill>
                <a:latin typeface="Segoe UI"/>
              </a:rPr>
              <a:t>YTD POS vs YTD Ship, Retail and Corp inventory, POS and Ship forecast, Open PO, Planned Purchase, Weeks of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280160"/>
            <a:ext cx="3657600" cy="18288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CA1A22"/>
                </a:solidFill>
                <a:latin typeface="Segoe UI"/>
              </a:rPr>
              <a:t>Connected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783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2C5C"/>
                </a:solidFill>
                <a:latin typeface="Segoe UI"/>
              </a:rPr>
              <a:t>Corp / Retail inventory TY vs LY, R8 sales velocity, Lost Sales %, Vendor Fill Rate %, DDF units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80"/>
            <a:ext cx="11247120" cy="301752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A1A22"/>
                </a:solidFill>
                <a:latin typeface="Segoe UI"/>
              </a:rPr>
              <a:t>What we added for Copilot 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931920"/>
            <a:ext cx="109728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>
                <a:solidFill>
                  <a:srgbClr val="1B2C5C"/>
                </a:solidFill>
                <a:latin typeface="Segoe UI"/>
              </a:rPr>
              <a:t>•  Rich `description` annotation on every measure and key column (POS, RVS, EGM, WoS, Lost Sales, Fill Rate, R8, R12)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1B2C5C"/>
                </a:solidFill>
                <a:latin typeface="Segoe UI"/>
              </a:rPr>
              <a:t>•  Synonyms baked in (supplier vs vendor, item vs SKU, stockout rate vs lost sales)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1B2C5C"/>
                </a:solidFill>
                <a:latin typeface="Segoe UI"/>
              </a:rPr>
              <a:t>•  Display folders group measures by Sales, Shipments, Profitability, Inventory, WoS, Execution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1B2C5C"/>
                </a:solidFill>
                <a:latin typeface="Segoe UI"/>
              </a:rPr>
              <a:t>•  Customer's question set seeded into Copilot examplePrompts.json - shows up as starter prompts in the chat pane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C5C"/>
                </a:solidFill>
                <a:latin typeface="Segoe UI"/>
              </a:rPr>
              <a:t>Live demo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Six prompts, six minutes, business outcomes you can act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228600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Segoe UI"/>
              </a:rPr>
              <a:t>Microsoft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11247120" cy="7772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CA1A22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716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2C5C"/>
                </a:solidFill>
                <a:latin typeface="Segoe UI"/>
              </a:rPr>
              <a:t>Summarize this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709928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Press the Copilot button. Get an executive narrative of POS / RVS / EGM for the page in context.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67128"/>
            <a:ext cx="11247120" cy="7772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58568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CA1A22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21284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2C5C"/>
                </a:solidFill>
                <a:latin typeface="Segoe UI"/>
              </a:rPr>
              <a:t>Category snapshot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5117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"Summary of POS, RVS, EGM for Kitchen &amp; Small Appliances across QTD, YTD, R12"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08376"/>
            <a:ext cx="11247120" cy="7772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99816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CA1A22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05409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2C5C"/>
                </a:solidFill>
                <a:latin typeface="Segoe UI"/>
              </a:rPr>
              <a:t>Top SKUs by EGM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39242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"Top 10 SKUs by EGM dollars with YoY change and margin %"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849624"/>
            <a:ext cx="11247120" cy="7772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941064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CA1A22"/>
                </a:solidFill>
                <a:latin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89534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2C5C"/>
                </a:solidFill>
                <a:latin typeface="Segoe UI"/>
              </a:rPr>
              <a:t>Fineline YoY comparison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233672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"Compare YoY performance for Air Fryers vs Cookware Sets" - includes POS, RVS, EGM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690872"/>
            <a:ext cx="11247120" cy="7772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82312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CA1A22"/>
                </a:solidFill>
                <a:latin typeface="Segoe U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73659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2C5C"/>
                </a:solidFill>
                <a:latin typeface="Segoe UI"/>
              </a:rPr>
              <a:t>Overstock vs understock signal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0749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"SKUs with weeks of supply &gt; 18 but lost sales &lt; 2%" - markdown candidates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32120"/>
            <a:ext cx="11247120" cy="7772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2356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CA1A22"/>
                </a:solidFill>
                <a:latin typeface="Segoe U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5778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2C5C"/>
                </a:solidFill>
                <a:latin typeface="Segoe UI"/>
              </a:rPr>
              <a:t>Supply-constrained growth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916168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"SKUs with lost sales &gt; 5% AND fill rate &lt; 85%" - supply risk on growing SKUs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C5C"/>
                </a:solidFill>
                <a:latin typeface="Segoe UI"/>
              </a:rPr>
              <a:t>CTC Merch Data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Conversational analytics outside the report - in Teams, in the portal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228600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Segoe UI"/>
              </a:rPr>
              <a:t>Microsoft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029200" cy="51206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A1A22"/>
                </a:solidFill>
                <a:latin typeface="Segoe UI"/>
              </a:rPr>
              <a:t>Same model, different surface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46634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1B2C5C"/>
                </a:solidFill>
                <a:latin typeface="Segoe UI"/>
              </a:rPr>
              <a:t>•  Grounded on ctc_merch</a:t>
            </a:r>
            <a:r>
              <a:rPr sz="1100" b="0">
                <a:solidFill>
                  <a:srgbClr val="5A6B82"/>
                </a:solidFill>
                <a:latin typeface="Segoe UI"/>
              </a:rPr>
              <a:t>  — Same Direct Lake model that powers the report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1B2C5C"/>
                </a:solidFill>
                <a:latin typeface="Segoe UI"/>
              </a:rPr>
              <a:t>•  Merch vocabulary built in</a:t>
            </a:r>
            <a:r>
              <a:rPr sz="1100" b="0">
                <a:solidFill>
                  <a:srgbClr val="5A6B82"/>
                </a:solidFill>
                <a:latin typeface="Segoe UI"/>
              </a:rPr>
              <a:t>  — POS, EGM, RVS, WoS, fill rate, lost sales, fineline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1B2C5C"/>
                </a:solidFill>
                <a:latin typeface="Segoe UI"/>
              </a:rPr>
              <a:t>•  Use cases pre-seeded</a:t>
            </a:r>
            <a:r>
              <a:rPr sz="1100" b="0">
                <a:solidFill>
                  <a:srgbClr val="5A6B82"/>
                </a:solidFill>
                <a:latin typeface="Segoe UI"/>
              </a:rPr>
              <a:t>  — Top SKUs by EGM, at-risk SKUs, markdown candidates, vendor summary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1B2C5C"/>
                </a:solidFill>
                <a:latin typeface="Segoe UI"/>
              </a:rPr>
              <a:t>•  Lives where buyers work</a:t>
            </a:r>
            <a:r>
              <a:rPr sz="1100" b="0">
                <a:solidFill>
                  <a:srgbClr val="5A6B82"/>
                </a:solidFill>
                <a:latin typeface="Segoe UI"/>
              </a:rPr>
              <a:t>  — Fabric portal today; Teams + Copilot Studio 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B82"/>
                </a:solidFill>
                <a:latin typeface="Segoe UI"/>
              </a:rPr>
              <a:t>Status: published, draft + published stages bound, 5 relationships indexed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492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B82"/>
                </a:solidFill>
                <a:latin typeface="Segoe UI"/>
              </a:rPr>
              <a:t>7 tables - 75 columns - 64 measures - all annotated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280160"/>
            <a:ext cx="6126480" cy="51206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141732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A1A22"/>
                </a:solidFill>
                <a:latin typeface="Segoe UI"/>
              </a:rPr>
              <a:t>10 Starter Questions buyers can run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187451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A1A22"/>
                </a:solidFill>
                <a:latin typeface="Segoe U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87451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C5C"/>
                </a:solidFill>
                <a:latin typeface="Segoe UI"/>
              </a:rPr>
              <a:t>One-paragraph merch briefing - POS YoY, EGM %, growth and drag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29514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A1A22"/>
                </a:solidFill>
                <a:latin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295143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C5C"/>
                </a:solidFill>
                <a:latin typeface="Segoe UI"/>
              </a:rPr>
              <a:t>Top 10 SKUs by EGM dollars with POS YoY and EGM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71576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A1A22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715767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C5C"/>
                </a:solidFill>
                <a:latin typeface="Segoe UI"/>
              </a:rPr>
              <a:t>Air Fryers vs Cookware Sets - POS YoY and EGM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3136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A1A22"/>
                </a:solidFill>
                <a:latin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13639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C5C"/>
                </a:solidFill>
                <a:latin typeface="Segoe UI"/>
              </a:rPr>
              <a:t>SKUs with lost sales &gt; 5% AND fill rate &lt; 85%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355701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A1A22"/>
                </a:solidFill>
                <a:latin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557015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C5C"/>
                </a:solidFill>
                <a:latin typeface="Segoe UI"/>
              </a:rPr>
              <a:t>WoS &gt; 18 AND lost sales &lt; 2% - markdown candidates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397763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A1A22"/>
                </a:solidFill>
                <a:latin typeface="Segoe U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7763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C5C"/>
                </a:solidFill>
                <a:latin typeface="Segoe UI"/>
              </a:rPr>
              <a:t>Canvas Outdoor vendor - POS, fill rate, EGM contribution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439826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A1A22"/>
                </a:solidFill>
                <a:latin typeface="Segoe U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4398263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C5C"/>
                </a:solidFill>
                <a:latin typeface="Segoe UI"/>
              </a:rPr>
              <a:t>New SKUs (New_SKU_Flag = Yes) driving the most POS growth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481888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A1A22"/>
                </a:solidFill>
                <a:latin typeface="Segoe U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4818887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C5C"/>
                </a:solidFill>
                <a:latin typeface="Segoe UI"/>
              </a:rPr>
              <a:t>Worst POS YoY % decline by fineline and its fill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523951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A1A22"/>
                </a:solidFill>
                <a:latin typeface="Segoe UI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523951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C5C"/>
                </a:solidFill>
                <a:latin typeface="Segoe UI"/>
              </a:rPr>
              <a:t>Vendors with worst fill rate but highest planned purchase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566013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A1A22"/>
                </a:solidFill>
                <a:latin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5660135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C5C"/>
                </a:solidFill>
                <a:latin typeface="Segoe UI"/>
              </a:rPr>
              <a:t>Demand vs supply gap by category - where to expedite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C5C"/>
                </a:solidFill>
                <a:latin typeface="Segoe UI"/>
              </a:rPr>
              <a:t>Headline findings from the demo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What Copilot surfaces in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228600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Segoe UI"/>
              </a:rPr>
              <a:t>Microsoft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743200" cy="1463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CA1A22"/>
                </a:solidFill>
                <a:latin typeface="Segoe UI"/>
              </a:rPr>
              <a:t>+27.9%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A6B82"/>
                </a:solidFill>
                <a:latin typeface="Segoe UI"/>
              </a:rPr>
              <a:t>POS YoY (Total)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280160"/>
            <a:ext cx="2743200" cy="1463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50876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07752"/>
                </a:solidFill>
                <a:latin typeface="Segoe UI"/>
              </a:rPr>
              <a:t>42.3%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2402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A6B82"/>
                </a:solidFill>
                <a:latin typeface="Segoe UI"/>
              </a:rPr>
              <a:t>EGM % 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80160"/>
            <a:ext cx="2743200" cy="1463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50876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CC8A00"/>
                </a:solidFill>
                <a:latin typeface="Segoe UI"/>
              </a:rPr>
              <a:t>4.06%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2402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A6B82"/>
                </a:solidFill>
                <a:latin typeface="Segoe UI"/>
              </a:rPr>
              <a:t>Avg Lost Sales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1280160"/>
            <a:ext cx="2743200" cy="146304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50876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CA1A22"/>
                </a:solidFill>
                <a:latin typeface="Segoe UI"/>
              </a:rPr>
              <a:t>89.0%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2402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A6B82"/>
                </a:solidFill>
                <a:latin typeface="Segoe UI"/>
              </a:rPr>
              <a:t>Vendor Fill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A1A22"/>
                </a:solidFill>
                <a:latin typeface="Segoe UI"/>
              </a:rPr>
              <a:t>Insights merchants can act 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37560"/>
            <a:ext cx="112471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1B2C5C"/>
                </a:solidFill>
                <a:latin typeface="Segoe UI"/>
              </a:rPr>
              <a:t>•  Air Fryers +88.7% YoY POS</a:t>
            </a:r>
            <a:r>
              <a:rPr sz="1100" b="0">
                <a:solidFill>
                  <a:srgbClr val="5A6B82"/>
                </a:solidFill>
                <a:latin typeface="Segoe UI"/>
              </a:rPr>
              <a:t>  — Strongest growth fineline - protect supply, expand assortment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1B2C5C"/>
                </a:solidFill>
                <a:latin typeface="Segoe UI"/>
              </a:rPr>
              <a:t>•  NK Dual Zone Air Fryer 8L losing 13.7% of demand</a:t>
            </a:r>
            <a:r>
              <a:rPr sz="1100" b="0">
                <a:solidFill>
                  <a:srgbClr val="5A6B82"/>
                </a:solidFill>
                <a:latin typeface="Segoe UI"/>
              </a:rPr>
              <a:t>  — Vendor fill rate only 72.7% - immediate supply intervention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1B2C5C"/>
                </a:solidFill>
                <a:latin typeface="Segoe UI"/>
              </a:rPr>
              <a:t>•  9 SKUs WoS &gt; 18 with low lost sales</a:t>
            </a:r>
            <a:r>
              <a:rPr sz="1100" b="0">
                <a:solidFill>
                  <a:srgbClr val="5A6B82"/>
                </a:solidFill>
                <a:latin typeface="Segoe UI"/>
              </a:rPr>
              <a:t>  — Classic markdown / promo candidates - sell-through stalled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1B2C5C"/>
                </a:solidFill>
                <a:latin typeface="Segoe UI"/>
              </a:rPr>
              <a:t>•  OL-BBQ-003 (Woodfire Grill) +1671% YoY</a:t>
            </a:r>
            <a:r>
              <a:rPr sz="1100" b="0">
                <a:solidFill>
                  <a:srgbClr val="5A6B82"/>
                </a:solidFill>
                <a:latin typeface="Segoe UI"/>
              </a:rPr>
              <a:t>  — New SKU with strong demand but fill rate 71% - over-rotate on PO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1B2C5C"/>
                </a:solidFill>
                <a:latin typeface="Segoe UI"/>
              </a:rPr>
              <a:t>•  Canvas Outdoor vendor +2.9% YoY, $7.4M, 39.9% EGM, 89.1% fill</a:t>
            </a:r>
            <a:r>
              <a:rPr sz="1100" b="0">
                <a:solidFill>
                  <a:srgbClr val="5A6B82"/>
                </a:solidFill>
                <a:latin typeface="Segoe UI"/>
              </a:rPr>
              <a:t>  — Anchor vendor performing steadily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C5C"/>
                </a:solidFill>
                <a:latin typeface="Segoe UI"/>
              </a:rPr>
              <a:t>Governance and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Built for enterprise rollout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228600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Segoe UI"/>
              </a:rPr>
              <a:t>Microsoft Canada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PII handling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Copilot in PBI does not send PII outside the M365 service boundary. Sensitivity labels and Purview classification carry through.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Data residency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Canadian Tire is on Canada-resident Fabric capacity. Copilot processing stays within the M365 geo of your tenant.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Conversation retention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Prompt and response history governed by M365 admin retention policies. No model training on your data.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Purview DLP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Existing DLP policies apply to Copilot interactions, including blocked sharing of sensitive content.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Responsible AI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Aligned with Microsoft Responsible AI Standard - groundedness, safety filters, attribution.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Audit and observability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Copilot usage logged in M365 audit log, viewable via Purview eDiscovery.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C5C"/>
                </a:solidFill>
                <a:latin typeface="Segoe U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Where Copilot in Power BI is going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228600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Segoe UI"/>
              </a:rPr>
              <a:t>Microsoft Canada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GA today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Summarize page, Q&amp;A, Smart Narrative, Find Insights, anomaly explanations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Recent additions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Cross-report grounding, custom semantic model instructions, multi-turn Q&amp;A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Near-term (next 90 days)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Agent-style follow-ups, deeper drill into measure lineage, custom example prompts at workspace scope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Integration story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Fabric Data Agent, Copilot Studio agents, Teams + Outlook + Word surfaces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CTC-specific opportunities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Workspace-scoped Copilot for Merch, finance-team scope (separate effort), supply-chain agent on Connected Inventory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C5C"/>
                </a:solidFill>
                <a:latin typeface="Segoe UI"/>
              </a:rPr>
              <a:t>Recommended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B82"/>
                </a:solidFill>
                <a:latin typeface="Segoe UI"/>
              </a:rPr>
              <a:t>From demo to enterprise rollout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228600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Segoe UI"/>
              </a:rPr>
              <a:t>Microsoft Canada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This week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Enable Copilot in Power BI for the Merch team pilot workspace (IT ticket - CTC IT noted ongoing enablement)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Within 2 weeks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Apply the descriptions / synonyms / example prompts pattern to the migrated Merch semantic models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Within 4 weeks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Pilot with 10-15 buyers, capture prompt patterns, refine examplePrompts.json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ARB-2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Use this pilot evidence + governance posture for ARB-2 approval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Broader rollout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Cascade to Finance (separate effort), Supply Chain, Stores once Merch validates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B2C5C"/>
                </a:solidFill>
                <a:latin typeface="Segoe UI"/>
              </a:rPr>
              <a:t>•  Microsoft Canada support</a:t>
            </a:r>
            <a:r>
              <a:rPr sz="1200" b="0">
                <a:solidFill>
                  <a:srgbClr val="5A6B82"/>
                </a:solidFill>
                <a:latin typeface="Segoe UI"/>
              </a:rPr>
              <a:t>  — Engineering hands-on for the first 30 days; weekly office hours for buyer Q&amp;A patterns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0"/>
            <a:ext cx="914400" cy="91440"/>
          </a:xfrm>
          <a:prstGeom prst="rect">
            <a:avLst/>
          </a:prstGeom>
          <a:solidFill>
            <a:srgbClr val="C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Segoe U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CD3DE"/>
                </a:solidFill>
                <a:latin typeface="Segoe UI"/>
              </a:rPr>
              <a:t>Let's talk about how Copilot fits Merch at Canadian Tire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9AA8BB"/>
                </a:solidFill>
                <a:latin typeface="Segoe UI"/>
              </a:rPr>
              <a:t>anuragdh@microsoft.com  |  Microsoft Canada Data Specialist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